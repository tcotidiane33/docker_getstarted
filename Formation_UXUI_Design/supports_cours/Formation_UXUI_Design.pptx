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C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097280"/>
            <a:ext cx="5486400" cy="5486400"/>
          </a:xfrm>
          <a:prstGeom prst="ellipse">
            <a:avLst/>
          </a:prstGeom>
          <a:solidFill>
            <a:srgbClr val="7B3FB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5B2D8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2004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7B3FB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CATALOGUE FORMATIONS IT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6400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 Design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Expérience Utilisateur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1097280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971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 │  Design System  │  Accessibilité  │  Tests Utilisateurs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2651760" cy="777240"/>
          </a:xfrm>
          <a:prstGeom prst="rect">
            <a:avLst/>
          </a:prstGeom>
          <a:solidFill>
            <a:srgbClr val="5B2D8E"/>
          </a:solidFill>
          <a:ln w="12700">
            <a:solidFill>
              <a:srgbClr val="7B3F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9776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⏱ 4 heures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0D9F0"/>
                </a:solidFill>
              </a:rPr>
              <a:t>7 modules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3977640"/>
            <a:ext cx="2651760" cy="777240"/>
          </a:xfrm>
          <a:prstGeom prst="rect">
            <a:avLst/>
          </a:prstGeom>
          <a:solidFill>
            <a:srgbClr val="5B2D8E"/>
          </a:solidFill>
          <a:ln w="12700">
            <a:solidFill>
              <a:srgbClr val="7B3F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39776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👥 UI/UX &amp; Frontend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0D9F0"/>
                </a:solidFill>
              </a:rPr>
              <a:t>Tous niveaux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3977640"/>
            <a:ext cx="2651760" cy="777240"/>
          </a:xfrm>
          <a:prstGeom prst="rect">
            <a:avLst/>
          </a:prstGeom>
          <a:solidFill>
            <a:srgbClr val="5B2D8E"/>
          </a:solidFill>
          <a:ln w="12700">
            <a:solidFill>
              <a:srgbClr val="7B3F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9776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Présentiel / Distanciel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0D9F0"/>
                </a:solidFill>
              </a:rPr>
              <a:t>Avec Figma live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Programme de la formation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02920" cy="36576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229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04672" y="896112"/>
            <a:ext cx="6126480" cy="228600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8229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4E"/>
                </a:solidFill>
              </a:rPr>
              <a:t>Fondamentaux UX/UI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0" y="822960"/>
            <a:ext cx="1097280" cy="36576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0" y="822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30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289304"/>
            <a:ext cx="502920" cy="365760"/>
          </a:xfrm>
          <a:prstGeom prst="rect">
            <a:avLst/>
          </a:prstGeom>
          <a:solidFill>
            <a:srgbClr val="7B3FB5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2893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" y="1362456"/>
            <a:ext cx="6126480" cy="228600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1289304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4E"/>
                </a:solidFill>
              </a:rPr>
              <a:t>User-Centered Design (UCD)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0" y="1289304"/>
            <a:ext cx="1097280" cy="365760"/>
          </a:xfrm>
          <a:prstGeom prst="rect">
            <a:avLst/>
          </a:prstGeom>
          <a:solidFill>
            <a:srgbClr val="7B3FB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128930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40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755648"/>
            <a:ext cx="502920" cy="365760"/>
          </a:xfrm>
          <a:prstGeom prst="rect">
            <a:avLst/>
          </a:prstGeom>
          <a:solidFill>
            <a:srgbClr val="9B8EB8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17556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" y="1828800"/>
            <a:ext cx="6126480" cy="228600"/>
          </a:xfrm>
          <a:prstGeom prst="rect">
            <a:avLst/>
          </a:prstGeom>
          <a:solidFill>
            <a:srgbClr val="F1F1F6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175564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5B8A"/>
                </a:solidFill>
              </a:rPr>
              <a:t>Pause &amp; Bilan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55648"/>
            <a:ext cx="1097280" cy="365760"/>
          </a:xfrm>
          <a:prstGeom prst="rect">
            <a:avLst/>
          </a:prstGeom>
          <a:solidFill>
            <a:srgbClr val="9B8EB8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0" y="17556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10 min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221992"/>
            <a:ext cx="502920" cy="36576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22219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" y="2295144"/>
            <a:ext cx="6126480" cy="228600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222199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4E"/>
                </a:solidFill>
              </a:rPr>
              <a:t>Wireframing &amp; Figma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0" y="2221992"/>
            <a:ext cx="1097280" cy="36576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0" y="22219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50 min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2688336"/>
            <a:ext cx="502920" cy="365760"/>
          </a:xfrm>
          <a:prstGeom prst="rect">
            <a:avLst/>
          </a:prstGeom>
          <a:solidFill>
            <a:srgbClr val="7B3FB5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268833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" y="2761488"/>
            <a:ext cx="6126480" cy="228600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2688336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4E"/>
                </a:solidFill>
              </a:rPr>
              <a:t>Design System &amp; Cohérence Visuelle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772400" y="2688336"/>
            <a:ext cx="1097280" cy="365760"/>
          </a:xfrm>
          <a:prstGeom prst="rect">
            <a:avLst/>
          </a:prstGeom>
          <a:solidFill>
            <a:srgbClr val="7B3FB5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0" y="26883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45 min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154680"/>
            <a:ext cx="502920" cy="365760"/>
          </a:xfrm>
          <a:prstGeom prst="rect">
            <a:avLst/>
          </a:prstGeom>
          <a:solidFill>
            <a:srgbClr val="9B8EB8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31546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—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4672" y="3227832"/>
            <a:ext cx="6126480" cy="228600"/>
          </a:xfrm>
          <a:prstGeom prst="rect">
            <a:avLst/>
          </a:prstGeom>
          <a:solidFill>
            <a:srgbClr val="F1F1F6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" y="31546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5B8A"/>
                </a:solidFill>
              </a:rPr>
              <a:t>Pause &amp; Q&amp;A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772400" y="3154680"/>
            <a:ext cx="1097280" cy="365760"/>
          </a:xfrm>
          <a:prstGeom prst="rect">
            <a:avLst/>
          </a:prstGeom>
          <a:solidFill>
            <a:srgbClr val="9B8EB8">
              <a:alpha val="4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0" y="3154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10 min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3621024"/>
            <a:ext cx="502920" cy="36576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362102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04672" y="3694176"/>
            <a:ext cx="6126480" cy="228600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3621024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4E"/>
                </a:solidFill>
              </a:rPr>
              <a:t>Accessibilité &amp; Ergonomie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772400" y="3621024"/>
            <a:ext cx="1097280" cy="36576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45" name="Text 43"/>
          <p:cNvSpPr/>
          <p:nvPr/>
        </p:nvSpPr>
        <p:spPr>
          <a:xfrm>
            <a:off x="7772400" y="36210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35 min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4087368"/>
            <a:ext cx="502920" cy="365760"/>
          </a:xfrm>
          <a:prstGeom prst="rect">
            <a:avLst/>
          </a:prstGeom>
          <a:solidFill>
            <a:srgbClr val="7B3FB5"/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40873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04672" y="4160520"/>
            <a:ext cx="6126480" cy="228600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408736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4E"/>
                </a:solidFill>
              </a:rPr>
              <a:t>Tendances UI Modernes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772400" y="4087368"/>
            <a:ext cx="1097280" cy="365760"/>
          </a:xfrm>
          <a:prstGeom prst="rect">
            <a:avLst/>
          </a:prstGeom>
          <a:solidFill>
            <a:srgbClr val="7B3FB5"/>
          </a:solidFill>
          <a:ln/>
        </p:spPr>
      </p:sp>
      <p:sp>
        <p:nvSpPr>
          <p:cNvPr id="51" name="Text 49"/>
          <p:cNvSpPr/>
          <p:nvPr/>
        </p:nvSpPr>
        <p:spPr>
          <a:xfrm>
            <a:off x="7772400" y="40873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30 min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74320" y="4553712"/>
            <a:ext cx="502920" cy="36576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53" name="Text 51"/>
          <p:cNvSpPr/>
          <p:nvPr/>
        </p:nvSpPr>
        <p:spPr>
          <a:xfrm>
            <a:off x="274320" y="45537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04672" y="4626864"/>
            <a:ext cx="6126480" cy="228600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55" name="Text 53"/>
          <p:cNvSpPr/>
          <p:nvPr/>
        </p:nvSpPr>
        <p:spPr>
          <a:xfrm>
            <a:off x="868680" y="455371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4E"/>
                </a:solidFill>
              </a:rPr>
              <a:t>Tests Utilisateurs &amp; Amélioration Continue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772400" y="4553712"/>
            <a:ext cx="1097280" cy="36576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57" name="Text 55"/>
          <p:cNvSpPr/>
          <p:nvPr/>
        </p:nvSpPr>
        <p:spPr>
          <a:xfrm>
            <a:off x="7772400" y="45537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50 min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F1F1F6"/>
          </a:solidFill>
          <a:ln/>
        </p:spPr>
      </p:sp>
      <p:sp>
        <p:nvSpPr>
          <p:cNvPr id="59" name="Text 57"/>
          <p:cNvSpPr/>
          <p:nvPr/>
        </p:nvSpPr>
        <p:spPr>
          <a:xfrm>
            <a:off x="274320" y="48006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B8A"/>
                </a:solidFill>
              </a:rPr>
              <a:t>Durée totale : 4h minimum garantie  •  Les 20 min de pauses peuvent être intégrées en fin de modules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Objectifs de la formation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64008" cy="3749040"/>
          </a:xfrm>
          <a:prstGeom prst="rect">
            <a:avLst/>
          </a:prstGeom>
          <a:solidFill>
            <a:srgbClr val="7B3FB5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91440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et distinguer UX et UI : lois, modèles mentaux, affordances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la démarche User-Centered Design (UCD) : personas, user journey, recherche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Maîtriser Figma : wireframes low/mid/high fidelity, Auto Layout, variables, prototypage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 design system complet : tokens, composants, variantes, documentation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des interfaces accessibles conformes aux standards WCAG 2.1 (RGAA)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et appliquer les tendances UI modernes avec discernement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Planifier et conduire des tests utilisateurs — heuristiques de Nielsen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F1F1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7548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B8A"/>
                </a:solidFill>
              </a:rPr>
              <a:t>💡 À l'issue de la formation, vous repartirez avec des outils concrets immédiatement applicables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5B2D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7B3FB5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3D1C6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166"/>
                </a:solidFill>
              </a:rPr>
              <a:t>MODULE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Fondamentaux UX/UI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D9F0"/>
                </a:solidFill>
              </a:rPr>
              <a:t>Lois UX · Modèles mentaux · Affordances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1371600" cy="34747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834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030"/>
                </a:solidFill>
              </a:rPr>
              <a:t>⏱ 30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383280"/>
            <a:ext cx="457200" cy="457200"/>
          </a:xfrm>
          <a:prstGeom prst="ellipse">
            <a:avLst/>
          </a:prstGeom>
          <a:solidFill>
            <a:srgbClr val="7B3FB5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4290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Psychologie du design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3383280"/>
            <a:ext cx="457200" cy="457200"/>
          </a:xfrm>
          <a:prstGeom prst="ellipse">
            <a:avLst/>
          </a:prstGeom>
          <a:solidFill>
            <a:srgbClr val="7B3FB5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34290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Perception visuelle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3383280"/>
            <a:ext cx="457200" cy="457200"/>
          </a:xfrm>
          <a:prstGeom prst="ellipse">
            <a:avLst/>
          </a:prstGeom>
          <a:solidFill>
            <a:srgbClr val="7B3FB5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34290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Interaction &amp; feedback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UX vs UI — Deux disciplines complémentaires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23360" cy="3977640"/>
          </a:xfrm>
          <a:prstGeom prst="rect">
            <a:avLst/>
          </a:prstGeom>
          <a:solidFill>
            <a:srgbClr val="EDE7F6"/>
          </a:solidFill>
          <a:ln w="12700">
            <a:solidFill>
              <a:srgbClr val="E0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8E"/>
                </a:solidFill>
              </a:rPr>
              <a:t>🔍 UX Design (Expérience)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3749040" cy="27432"/>
          </a:xfrm>
          <a:prstGeom prst="rect">
            <a:avLst/>
          </a:prstGeom>
          <a:solidFill>
            <a:srgbClr val="7B3FB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concentre sur le ressenti global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et analyse utilisateur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 l'information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et flux utilisateur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Prototypage et test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mais essentielle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4023360" cy="3977640"/>
          </a:xfrm>
          <a:prstGeom prst="rect">
            <a:avLst/>
          </a:prstGeom>
          <a:solidFill>
            <a:srgbClr val="F1F1F6"/>
          </a:solidFill>
          <a:ln w="12700">
            <a:solidFill>
              <a:srgbClr val="E0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8E"/>
                </a:solidFill>
              </a:rPr>
              <a:t>🎨 UI Design (Interface)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1298448"/>
            <a:ext cx="3749040" cy="27432"/>
          </a:xfrm>
          <a:prstGeom prst="rect">
            <a:avLst/>
          </a:prstGeom>
          <a:solidFill>
            <a:srgbClr val="7B3FB5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37160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concentre sur l'apparence visuelle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 graphique et identité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et éléments visuels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Typographie, couleurs, icônes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et micro-interactions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et attrayante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Les grandes lois du design UX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651760" cy="1828800"/>
          </a:xfrm>
          <a:prstGeom prst="rect">
            <a:avLst/>
          </a:prstGeom>
          <a:solidFill>
            <a:srgbClr val="EDE7F6"/>
          </a:solidFill>
          <a:ln w="12700">
            <a:solidFill>
              <a:srgbClr val="E0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2651760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6" name="Text 4"/>
          <p:cNvSpPr/>
          <p:nvPr/>
        </p:nvSpPr>
        <p:spPr>
          <a:xfrm>
            <a:off x="301752" y="822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 — Loi de Hick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il y a de choix, plus la décision est lente. Simplifier les menus et formulaires.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651760" cy="1828800"/>
          </a:xfrm>
          <a:prstGeom prst="rect">
            <a:avLst/>
          </a:prstGeom>
          <a:solidFill>
            <a:srgbClr val="EDE7F6"/>
          </a:solidFill>
          <a:ln w="12700">
            <a:solidFill>
              <a:srgbClr val="E0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22960"/>
            <a:ext cx="2651760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10" name="Text 8"/>
          <p:cNvSpPr/>
          <p:nvPr/>
        </p:nvSpPr>
        <p:spPr>
          <a:xfrm>
            <a:off x="3273552" y="822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 — Loi de Fitts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1887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temps pour atteindre une cible dépend de sa distance et sa taille. Grands boutons = accessibles.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822960"/>
            <a:ext cx="2651760" cy="1828800"/>
          </a:xfrm>
          <a:prstGeom prst="rect">
            <a:avLst/>
          </a:prstGeom>
          <a:solidFill>
            <a:srgbClr val="EDE7F6"/>
          </a:solidFill>
          <a:ln w="12700">
            <a:solidFill>
              <a:srgbClr val="E0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822960"/>
            <a:ext cx="2651760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14" name="Text 12"/>
          <p:cNvSpPr/>
          <p:nvPr/>
        </p:nvSpPr>
        <p:spPr>
          <a:xfrm>
            <a:off x="6245352" y="822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 — Loi de Jakob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11887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utilisateurs s'attendent à ce que votre site fonctionne comme les autres. Respectez les conventions.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816352"/>
            <a:ext cx="2651760" cy="1828800"/>
          </a:xfrm>
          <a:prstGeom prst="rect">
            <a:avLst/>
          </a:prstGeom>
          <a:solidFill>
            <a:srgbClr val="EDE7F6"/>
          </a:solidFill>
          <a:ln w="12700">
            <a:solidFill>
              <a:srgbClr val="E0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816352"/>
            <a:ext cx="2651760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18" name="Text 16"/>
          <p:cNvSpPr/>
          <p:nvPr/>
        </p:nvSpPr>
        <p:spPr>
          <a:xfrm>
            <a:off x="301752" y="28163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 — Loi de Miller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3182112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mémoire court terme retient 7 items (±2). Grouper les infos en blocs de 5 à 9 éléments.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816352"/>
            <a:ext cx="2651760" cy="1828800"/>
          </a:xfrm>
          <a:prstGeom prst="rect">
            <a:avLst/>
          </a:prstGeom>
          <a:solidFill>
            <a:srgbClr val="EDE7F6"/>
          </a:solidFill>
          <a:ln w="12700">
            <a:solidFill>
              <a:srgbClr val="E0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816352"/>
            <a:ext cx="2651760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22" name="Text 20"/>
          <p:cNvSpPr/>
          <p:nvPr/>
        </p:nvSpPr>
        <p:spPr>
          <a:xfrm>
            <a:off x="3273552" y="28163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 — Effet de série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3182112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rétention en début et fin de liste. Placer les infos critiques en tête et queue de page.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2816352"/>
            <a:ext cx="2651760" cy="1828800"/>
          </a:xfrm>
          <a:prstGeom prst="rect">
            <a:avLst/>
          </a:prstGeom>
          <a:solidFill>
            <a:srgbClr val="EDE7F6"/>
          </a:solidFill>
          <a:ln w="12700">
            <a:solidFill>
              <a:srgbClr val="E0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2816352"/>
            <a:ext cx="2651760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26" name="Text 24"/>
          <p:cNvSpPr/>
          <p:nvPr/>
        </p:nvSpPr>
        <p:spPr>
          <a:xfrm>
            <a:off x="6245352" y="28163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 — Loi de Tesler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3182112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app a une complexité incompressible. Elle doit être gérée par le système, pas l'utilisateur.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Modèles mentaux &amp; Affordances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64008" cy="3749040"/>
          </a:xfrm>
          <a:prstGeom prst="rect">
            <a:avLst/>
          </a:prstGeom>
          <a:solidFill>
            <a:srgbClr val="7B3FB5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91440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mental : représentation que l'utilisateur a du fonctionnement d'un système. Le design doit y correspondre.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Affordance : propriété d'un objet qui suggère son usage (bouton en relief = cliquable, poignée = à saisir).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Signifiant (Signifier) : signal explicite indiquant où et comment agir — flèche, label, icône.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: réponse du système à chaque action. Indispensable pour confirmer ou corriger l'utilisateur.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&gt; Originalité : un design familier est plus efficace qu'un design créatif mais déroutant.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F1F1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7548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B8A"/>
                </a:solidFill>
              </a:rPr>
              <a:t>💡 Règle d'or : si l'utilisateur fait une erreur, c'est presque toujours un problème de design, pas d'utilisateur.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B2D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7B3FB5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3D1C6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166"/>
                </a:solidFill>
              </a:rPr>
              <a:t>MODULE 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User-Centered Design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D9F0"/>
                </a:solidFill>
              </a:rPr>
              <a:t>Personas · User Journey · Recherche utilisateur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1371600" cy="34747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834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030"/>
                </a:solidFill>
              </a:rPr>
              <a:t>⏱ 40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383280"/>
            <a:ext cx="457200" cy="457200"/>
          </a:xfrm>
          <a:prstGeom prst="ellipse">
            <a:avLst/>
          </a:prstGeom>
          <a:solidFill>
            <a:srgbClr val="7B3FB5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4290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Personas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3383280"/>
            <a:ext cx="457200" cy="457200"/>
          </a:xfrm>
          <a:prstGeom prst="ellipse">
            <a:avLst/>
          </a:prstGeom>
          <a:solidFill>
            <a:srgbClr val="7B3FB5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34290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User Journey Map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3383280"/>
            <a:ext cx="457200" cy="457200"/>
          </a:xfrm>
          <a:prstGeom prst="ellipse">
            <a:avLst/>
          </a:prstGeom>
          <a:solidFill>
            <a:srgbClr val="7B3FB5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🔬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34290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Recherche UX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Le processus User-Centered Design (ISO 9241-210)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023360" cy="1828800"/>
          </a:xfrm>
          <a:prstGeom prst="rect">
            <a:avLst/>
          </a:prstGeom>
          <a:solidFill>
            <a:srgbClr val="EDE7F6"/>
          </a:solidFill>
          <a:ln w="12700">
            <a:solidFill>
              <a:srgbClr val="E0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4023360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" y="822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1. Comprendre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utilisateur : entretiens, observations, enquêtes, analyse des données existantes.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822960"/>
            <a:ext cx="4023360" cy="1828800"/>
          </a:xfrm>
          <a:prstGeom prst="rect">
            <a:avLst/>
          </a:prstGeom>
          <a:solidFill>
            <a:srgbClr val="EDE7F6"/>
          </a:solidFill>
          <a:ln w="12700">
            <a:solidFill>
              <a:srgbClr val="E0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822960"/>
            <a:ext cx="4023360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10" name="Text 8"/>
          <p:cNvSpPr/>
          <p:nvPr/>
        </p:nvSpPr>
        <p:spPr>
          <a:xfrm>
            <a:off x="4919472" y="822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2. Définir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18872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&amp; Journey : synthèse de la recherche, création des personas, cartographie du parcours.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816352"/>
            <a:ext cx="4023360" cy="1828800"/>
          </a:xfrm>
          <a:prstGeom prst="rect">
            <a:avLst/>
          </a:prstGeom>
          <a:solidFill>
            <a:srgbClr val="EDE7F6"/>
          </a:solidFill>
          <a:ln w="12700">
            <a:solidFill>
              <a:srgbClr val="E0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816352"/>
            <a:ext cx="4023360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" y="28163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3. Concevoir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182112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&amp; Prototypes : idéation, sketching, wireframing, maquettes haute fidélité.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816352"/>
            <a:ext cx="4023360" cy="1828800"/>
          </a:xfrm>
          <a:prstGeom prst="rect">
            <a:avLst/>
          </a:prstGeom>
          <a:solidFill>
            <a:srgbClr val="EDE7F6"/>
          </a:solidFill>
          <a:ln w="12700">
            <a:solidFill>
              <a:srgbClr val="E0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816352"/>
            <a:ext cx="4023360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18" name="Text 16"/>
          <p:cNvSpPr/>
          <p:nvPr/>
        </p:nvSpPr>
        <p:spPr>
          <a:xfrm>
            <a:off x="4919472" y="28163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4. Évaluer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182112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Iterations : tests utilisateurs, heuristiques, mesures, corrections, recommencer.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Personas — Construire une représentation réelle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23360" cy="3977640"/>
          </a:xfrm>
          <a:prstGeom prst="rect">
            <a:avLst/>
          </a:prstGeom>
          <a:solidFill>
            <a:srgbClr val="EDE7F6"/>
          </a:solidFill>
          <a:ln w="12700">
            <a:solidFill>
              <a:srgbClr val="E0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8E"/>
                </a:solidFill>
              </a:rPr>
              <a:t>✅ Éléments d'un persona efficace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3749040" cy="27432"/>
          </a:xfrm>
          <a:prstGeom prst="rect">
            <a:avLst/>
          </a:prstGeom>
          <a:solidFill>
            <a:srgbClr val="7B3FB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Nom, photo, âge, contexte de vie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et motivations profondes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Frustrations et points de douleur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Comportements numériques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représentative directe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Basé sur des données de recherche réelle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4023360" cy="3977640"/>
          </a:xfrm>
          <a:prstGeom prst="rect">
            <a:avLst/>
          </a:prstGeom>
          <a:solidFill>
            <a:srgbClr val="F1F1F6"/>
          </a:solidFill>
          <a:ln w="12700">
            <a:solidFill>
              <a:srgbClr val="E0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8E"/>
                </a:solidFill>
              </a:rPr>
              <a:t>❌ Pièges à éviter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1298448"/>
            <a:ext cx="3749040" cy="27432"/>
          </a:xfrm>
          <a:prstGeom prst="rect">
            <a:avLst/>
          </a:prstGeom>
          <a:solidFill>
            <a:srgbClr val="7B3FB5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37160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basés sur des suppositions sans recherche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 de personas (max 3-5 par produit)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démographiques sans comportements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les mettre à jour après création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créer seul sans impliquer l'équipe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User Journey Map — Structure type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914400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Découverte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Exploration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Décision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Fidélisation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B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Actions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Recherche Google, bouche à oreille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Navigation, comparaison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Lecture reviews, essai gratuit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Inscription, achat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Renouvellement, parrainage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Pensées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«Existe-t-il une solution ?»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«Est-ce que ça répond à mon besoin ?»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«Puis-je lui faire confiance ?»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«Est-ce simple à utiliser ?»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«Vaut-il le prix payé ?»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Émotions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Frustration, espoir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Curiosité, incertitude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Hésitation, intérêt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Anxiété, soulagement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Satisfaction, loyauté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Opportunités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SEO, bouche à oreille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UX claire, démo visuelle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Preuves sociales, essai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Onboarding guidé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Programme fidélité, support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030"/>
                </a:solidFill>
              </a:rPr>
              <a:t>🛠 ATELIER PRATIQUE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2D8E"/>
                </a:solidFill>
              </a:rPr>
              <a:t>Persona &amp; User Journey Map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548640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4E"/>
                </a:solidFill>
              </a:rPr>
              <a:t>🎯 Objectif : Construire un persona complet et cartographier son parcours pour une app mobile de gestion de tâches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8E"/>
                </a:solidFill>
              </a:rPr>
              <a:t>Étapes 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414016"/>
            <a:ext cx="320040" cy="320040"/>
          </a:xfrm>
          <a:prstGeom prst="ellipse">
            <a:avLst/>
          </a:prstGeom>
          <a:solidFill>
            <a:srgbClr val="5B2D8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4140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le contexte : app mobile de productivité pour freelances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89504"/>
            <a:ext cx="320040" cy="320040"/>
          </a:xfrm>
          <a:prstGeom prst="ellipse">
            <a:avLst/>
          </a:prstGeom>
          <a:solidFill>
            <a:srgbClr val="5B2D8E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8895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89864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Rédiger un persona en 1 page : profil, objectifs, frustrations, comportements digitaux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64992"/>
            <a:ext cx="320040" cy="320040"/>
          </a:xfrm>
          <a:prstGeom prst="ellipse">
            <a:avLst/>
          </a:prstGeom>
          <a:solidFill>
            <a:srgbClr val="5B2D8E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3649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37413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5 phases clés du parcours utilisateur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320040" cy="320040"/>
          </a:xfrm>
          <a:prstGeom prst="ellipse">
            <a:avLst/>
          </a:prstGeom>
          <a:solidFill>
            <a:srgbClr val="5B2D8E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849624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phase : lister actions, pensées, émotions et points de contact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315968"/>
            <a:ext cx="320040" cy="320040"/>
          </a:xfrm>
          <a:prstGeom prst="ellipse">
            <a:avLst/>
          </a:prstGeom>
          <a:solidFill>
            <a:srgbClr val="5B2D8E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315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432511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3 principaux points de friction et proposer des solutions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791456"/>
            <a:ext cx="320040" cy="320040"/>
          </a:xfrm>
          <a:prstGeom prst="ellipse">
            <a:avLst/>
          </a:prstGeom>
          <a:solidFill>
            <a:srgbClr val="5B2D8E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791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48006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Présenter la journey map au groupe et recueillir les retours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5B2D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7B3FB5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3D1C6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166"/>
                </a:solidFill>
              </a:rPr>
              <a:t>MODULE 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Wireframing &amp; Prototypage Figma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D9F0"/>
                </a:solidFill>
              </a:rPr>
              <a:t>Low/Mid/High Fidelity · Auto Layout · Variables · Prototypage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1371600" cy="34747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834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030"/>
                </a:solidFill>
              </a:rPr>
              <a:t>⏱ 50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383280"/>
            <a:ext cx="457200" cy="457200"/>
          </a:xfrm>
          <a:prstGeom prst="ellipse">
            <a:avLst/>
          </a:prstGeom>
          <a:solidFill>
            <a:srgbClr val="7B3FB5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4290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Wireframes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3383280"/>
            <a:ext cx="457200" cy="457200"/>
          </a:xfrm>
          <a:prstGeom prst="ellipse">
            <a:avLst/>
          </a:prstGeom>
          <a:solidFill>
            <a:srgbClr val="7B3FB5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⚙️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34290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Auto Layout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3383280"/>
            <a:ext cx="457200" cy="457200"/>
          </a:xfrm>
          <a:prstGeom prst="ellipse">
            <a:avLst/>
          </a:prstGeom>
          <a:solidFill>
            <a:srgbClr val="7B3FB5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🔗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34290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Prototype interactif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Les niveaux de fidélité — Quand et comment ?</a:t>
            </a:r>
            <a:endParaRPr lang="en-US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Low Fidelity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Mid Fidelity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High Fidelity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B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Outil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Papier, crayons, Balsamiq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Figma (niveaux de gris)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Figma (charte complète)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Durée de création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Très rapide (minutes)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Rapide (heures)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Longue (jours)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Utilisation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Idéation, premiers concepts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Validation de la structure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Tests utilisateurs, dev handoff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Degré de détail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Blocs et formes simples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Layout et navigation clairs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Couleurs, typo, micro-interactions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Quand utiliser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Phase de recherche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Phase de définition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Phase de conception avancée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Figma — Fonctionnalités essentielles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64008" cy="3749040"/>
          </a:xfrm>
          <a:prstGeom prst="rect">
            <a:avLst/>
          </a:prstGeom>
          <a:solidFill>
            <a:srgbClr val="7B3FB5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91440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: séparer les écrans par section ou user flow (Onboarding, Dashboard, Profil...)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: conteneur de base pour chaque écran. Utiliser les presets de tailles d'appareils.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vs Composants : grouper pour organiser ; créer des composants pour tout ce qui se répète.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Layout : composants qui s'adaptent automatiquement au contenu (comme Flexbox CSS) — direction, spacing, padding, wrapping.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Design Tokens (Figma 2024) : stocker couleurs, tailles, espacements. Modes light/dark en 1 clic.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absolue : tout bouton, carte ou composant doit utiliser l'Auto Layout.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F1F1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7548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B8A"/>
                </a:solidFill>
              </a:rPr>
              <a:t>💡 Figma est l'outil central — maîtriser Auto Layout et les Variables change radicalement la productivité.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Prototypage &amp; Interactions dans Figma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64008" cy="3749040"/>
          </a:xfrm>
          <a:prstGeom prst="rect">
            <a:avLst/>
          </a:prstGeom>
          <a:solidFill>
            <a:srgbClr val="7B3FB5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91440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Connexions : relier les frames pour créer des flux de navigation (triggers, transitions, destinations)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Animate : animations fluides automatiques entre deux états similaires d'un composant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Overlays : modales, tooltips et drawers sans créer de nouvelles frames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flows : définir plusieurs points d'entrée pour tester différents parcours utilisateur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mode : partager un lien de prototype directement avec stakeholders et testeurs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en prototypage : changer d'état (logged-in/out, expanded/collapsed) sans dupliquer les frames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F1F1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7548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B8A"/>
                </a:solidFill>
              </a:rPr>
              <a:t>💡 Un bon prototype cliquable révèle 80% des problèmes d'UX avant même d'écrire une ligne de code.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030"/>
                </a:solidFill>
              </a:rPr>
              <a:t>🛠 ATELIER PRATIQUE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2D8E"/>
                </a:solidFill>
              </a:rPr>
              <a:t>Wireframe mid-fi &amp; prototype cliquable Figma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548640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4E"/>
                </a:solidFill>
              </a:rPr>
              <a:t>🎯 Objectif : Concevoir le wireframe mid-fidélité d'un écran tableau de bord et le connecter en prototype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8E"/>
                </a:solidFill>
              </a:rPr>
              <a:t>Étapes 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414016"/>
            <a:ext cx="320040" cy="320040"/>
          </a:xfrm>
          <a:prstGeom prst="ellipse">
            <a:avLst/>
          </a:prstGeom>
          <a:solidFill>
            <a:srgbClr val="5B2D8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4140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page 'Dashboard' sur Figma avec une frame Desktop (1440px)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89504"/>
            <a:ext cx="320040" cy="320040"/>
          </a:xfrm>
          <a:prstGeom prst="ellipse">
            <a:avLst/>
          </a:prstGeom>
          <a:solidFill>
            <a:srgbClr val="5B2D8E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8895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89864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la structure : barre de navigation, sidebar, zone principale avec 4 cartes statistiques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64992"/>
            <a:ext cx="320040" cy="320040"/>
          </a:xfrm>
          <a:prstGeom prst="ellipse">
            <a:avLst/>
          </a:prstGeom>
          <a:solidFill>
            <a:srgbClr val="5B2D8E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3649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37413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l'Auto Layout pour tous les composants répétés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320040" cy="320040"/>
          </a:xfrm>
          <a:prstGeom prst="ellipse">
            <a:avLst/>
          </a:prstGeom>
          <a:solidFill>
            <a:srgbClr val="5B2D8E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849624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composant Card avec 2 variantes (avec/sans graphique)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315968"/>
            <a:ext cx="320040" cy="320040"/>
          </a:xfrm>
          <a:prstGeom prst="ellipse">
            <a:avLst/>
          </a:prstGeom>
          <a:solidFill>
            <a:srgbClr val="5B2D8E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315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432511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Connecter la sidebar en prototype : navigation vers 3 écrans différents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791456"/>
            <a:ext cx="320040" cy="320040"/>
          </a:xfrm>
          <a:prstGeom prst="ellipse">
            <a:avLst/>
          </a:prstGeom>
          <a:solidFill>
            <a:srgbClr val="5B2D8E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791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48006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le lien de prototype et recueillir les retours d'un binôme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5B2D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7B3FB5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3D1C6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166"/>
                </a:solidFill>
              </a:rPr>
              <a:t>MODULE 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&amp; Cohérence Visuelle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D9F0"/>
                </a:solidFill>
              </a:rPr>
              <a:t>Tokens · Composants · Documentation · Versioning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1371600" cy="34747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834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030"/>
                </a:solidFill>
              </a:rPr>
              <a:t>⏱ 45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383280"/>
            <a:ext cx="457200" cy="457200"/>
          </a:xfrm>
          <a:prstGeom prst="ellipse">
            <a:avLst/>
          </a:prstGeom>
          <a:solidFill>
            <a:srgbClr val="7B3FB5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4290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Tokens &amp; palette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3383280"/>
            <a:ext cx="457200" cy="457200"/>
          </a:xfrm>
          <a:prstGeom prst="ellipse">
            <a:avLst/>
          </a:prstGeom>
          <a:solidFill>
            <a:srgbClr val="7B3FB5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34290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Composants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3383280"/>
            <a:ext cx="457200" cy="457200"/>
          </a:xfrm>
          <a:prstGeom prst="ellipse">
            <a:avLst/>
          </a:prstGeom>
          <a:solidFill>
            <a:srgbClr val="7B3FB5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📖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34290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Documentation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Qu'est-ce qu'un Design System 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23360" cy="3977640"/>
          </a:xfrm>
          <a:prstGeom prst="rect">
            <a:avLst/>
          </a:prstGeom>
          <a:solidFill>
            <a:srgbClr val="EDE7F6"/>
          </a:solidFill>
          <a:ln w="12700">
            <a:solidFill>
              <a:srgbClr val="E0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8E"/>
                </a:solidFill>
              </a:rPr>
              <a:t>🏗 Fondations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3749040" cy="27432"/>
          </a:xfrm>
          <a:prstGeom prst="rect">
            <a:avLst/>
          </a:prstGeom>
          <a:solidFill>
            <a:srgbClr val="7B3FB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de couleurs (primaires, secondaires, états)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Échelle typographique (titres, corps, labels)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et espacements (4/8pt grid system)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Effets : ombres, rayons de bordure, gradients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4023360" cy="3977640"/>
          </a:xfrm>
          <a:prstGeom prst="rect">
            <a:avLst/>
          </a:prstGeom>
          <a:solidFill>
            <a:srgbClr val="F1F1F6"/>
          </a:solidFill>
          <a:ln w="12700">
            <a:solidFill>
              <a:srgbClr val="E0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8E"/>
                </a:solidFill>
              </a:rPr>
              <a:t>🧩 Composants &amp; Documentation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1298448"/>
            <a:ext cx="3749040" cy="27432"/>
          </a:xfrm>
          <a:prstGeom prst="rect">
            <a:avLst/>
          </a:prstGeom>
          <a:solidFill>
            <a:srgbClr val="7B3FB5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37160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Boutons (primary, secondary, ghost, danger)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de formulaire et états (focus, error, success)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(tabs, breadcrumbs, pagination)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(alerts, toasts, modales, tooltips)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d'usage, Do/Don't, accessibilité, changelog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Architecture des Design Tokens</a:t>
            </a:r>
            <a:endParaRPr lang="en-US" sz="1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Niveau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Exemple Figma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Exemple code (CSS)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B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Global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Couleur brute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color/blue/500 = #3B82F6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--color-blue-500: #3B82F6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Alias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Couleur sémantique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color/brand/primary = blue/500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--color-brand-primary: var(--color-blue-500)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Composant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Couleur d'usage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button/bg/default = brand/primary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--btn-bg: var(--color-brand-primary)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Global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Espacement brut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spacing/4 = 16px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--spacing-4: 1rem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Alias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Espacement sémantique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spacing/component/md = spacing/4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--spacing-md: var(--spacing-4)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030"/>
                </a:solidFill>
              </a:rPr>
              <a:t>🛠 ATELIER PRATIQUE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2D8E"/>
                </a:solidFill>
              </a:rPr>
              <a:t>Construire les fondations d'un mini design system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548640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4E"/>
                </a:solidFill>
              </a:rPr>
              <a:t>🎯 Objectif : Créer les tokens de base, la palette, la typographie et un composant Button avec variantes dans Figma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8E"/>
                </a:solidFill>
              </a:rPr>
              <a:t>Étapes 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414016"/>
            <a:ext cx="320040" cy="320040"/>
          </a:xfrm>
          <a:prstGeom prst="ellipse">
            <a:avLst/>
          </a:prstGeom>
          <a:solidFill>
            <a:srgbClr val="5B2D8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4140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page 'Foundations' : définir une palette de 5 couleurs avec leurs tons (50 à 900)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89504"/>
            <a:ext cx="320040" cy="320040"/>
          </a:xfrm>
          <a:prstGeom prst="ellipse">
            <a:avLst/>
          </a:prstGeom>
          <a:solidFill>
            <a:srgbClr val="5B2D8E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8895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89864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Stocker les couleurs comme Variables Figma locales (collection 'Color Tokens')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64992"/>
            <a:ext cx="320040" cy="320040"/>
          </a:xfrm>
          <a:prstGeom prst="ellipse">
            <a:avLst/>
          </a:prstGeom>
          <a:solidFill>
            <a:srgbClr val="5B2D8E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3649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37413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l'échelle typographique : 6 styles de texte (H1 à H3, Body, Label, Caption)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320040" cy="320040"/>
          </a:xfrm>
          <a:prstGeom prst="ellipse">
            <a:avLst/>
          </a:prstGeom>
          <a:solidFill>
            <a:srgbClr val="5B2D8E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849624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page 'Components' : construire un composant Button avec Auto Layout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315968"/>
            <a:ext cx="320040" cy="320040"/>
          </a:xfrm>
          <a:prstGeom prst="ellipse">
            <a:avLst/>
          </a:prstGeom>
          <a:solidFill>
            <a:srgbClr val="5B2D8E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315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432511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3 variantes : Primary, Secondary, Ghost + états : Default, Hover, Disabled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791456"/>
            <a:ext cx="320040" cy="320040"/>
          </a:xfrm>
          <a:prstGeom prst="ellipse">
            <a:avLst/>
          </a:prstGeom>
          <a:solidFill>
            <a:srgbClr val="5B2D8E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791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48006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le composant : usage, do/don't, accessibilité (ratio de contraste)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5B2D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7B3FB5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3D1C6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166"/>
                </a:solidFill>
              </a:rPr>
              <a:t>MODULE 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Accessibilité &amp; Ergonomie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D9F0"/>
                </a:solidFill>
              </a:rPr>
              <a:t>WCAG 2.1 · Contraste · Navigation clavier · Zones tactiles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1371600" cy="34747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834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030"/>
                </a:solidFill>
              </a:rPr>
              <a:t>⏱ 35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383280"/>
            <a:ext cx="457200" cy="457200"/>
          </a:xfrm>
          <a:prstGeom prst="ellipse">
            <a:avLst/>
          </a:prstGeom>
          <a:solidFill>
            <a:srgbClr val="7B3FB5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♿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4290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WCAG 2.1 / RGAA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3383280"/>
            <a:ext cx="457200" cy="457200"/>
          </a:xfrm>
          <a:prstGeom prst="ellipse">
            <a:avLst/>
          </a:prstGeom>
          <a:solidFill>
            <a:srgbClr val="7B3FB5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34290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Contraste &amp; couleurs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3383280"/>
            <a:ext cx="457200" cy="457200"/>
          </a:xfrm>
          <a:prstGeom prst="ellipse">
            <a:avLst/>
          </a:prstGeom>
          <a:solidFill>
            <a:srgbClr val="7B3FB5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⌨️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34290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Navigation clavier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Standards WCAG 2.1 — Les 4 principes POUR</a:t>
            </a:r>
            <a:endParaRPr lang="en-US" sz="1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914400"/>
        </p:xfrm>
        <a:graphic>
          <a:graphicData uri="http://schemas.openxmlformats.org/drawingml/2006/table">
            <a:tbl>
              <a:tblPr/>
              <a:tblGrid>
                <a:gridCol w="2865120"/>
                <a:gridCol w="2865120"/>
                <a:gridCol w="2865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Principe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Signification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Critères clés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B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♿ Perceptible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L'info et les éléments doivent être présentables pour tous. Textes alternatifs, sous-titres, contraste suffisant.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1.1, 1.3, 1.4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🖱 Utilisable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Tous les composants doivent être utilisables au clavier. Pas de contenu provoquant des crises épileptiques.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2.1, 2.4, 2.5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💬 Compréhensible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L'information et le fonctionnement de l'interface doivent être compréhensibles. Erreurs claires, navigation cohérente.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3.1, 3.2, 3.3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🔧 Robuste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Le contenu doit être interprété par une grande variété d'agents utilisateurs et technologies d'assistance.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4.1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Contraste, couleurs &amp; Navigation clavier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23360" cy="3977640"/>
          </a:xfrm>
          <a:prstGeom prst="rect">
            <a:avLst/>
          </a:prstGeom>
          <a:solidFill>
            <a:srgbClr val="EDE7F6"/>
          </a:solidFill>
          <a:ln w="12700">
            <a:solidFill>
              <a:srgbClr val="E0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8E"/>
                </a:solidFill>
              </a:rPr>
              <a:t>🎨 Contraste &amp; Couleurs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3749040" cy="27432"/>
          </a:xfrm>
          <a:prstGeom prst="rect">
            <a:avLst/>
          </a:prstGeom>
          <a:solidFill>
            <a:srgbClr val="7B3FB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AA minimum : 4,5:1 pour texte normal, 3:1 pour texte large (18px+ ou 14px+ bold)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AAA : 7:1 pour texte normal — viser ce niveau pour interfaces critiques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utiliser la couleur seule pour transmettre une information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: plugin Figma 'Contrast', 'A11y Annotation Kit', WebAIM Contrast Checker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Daltonisme : tester avec Figma &gt; View &gt; Accessibility &gt; Color Blindness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4023360" cy="3977640"/>
          </a:xfrm>
          <a:prstGeom prst="rect">
            <a:avLst/>
          </a:prstGeom>
          <a:solidFill>
            <a:srgbClr val="F1F1F6"/>
          </a:solidFill>
          <a:ln w="12700">
            <a:solidFill>
              <a:srgbClr val="E0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8E"/>
                </a:solidFill>
              </a:rPr>
              <a:t>⌨️ Navigation clavier &amp; Ergonomie tactile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1298448"/>
            <a:ext cx="3749040" cy="27432"/>
          </a:xfrm>
          <a:prstGeom prst="rect">
            <a:avLst/>
          </a:prstGeom>
          <a:solidFill>
            <a:srgbClr val="7B3FB5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37160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de tabulation logique : correspondre à l'ordre visuel de lecture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visible : outline 2px minimum, contraste 3:1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labels : tout élément interactif sans texte visible doit avoir aria-label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links : lien 'Aller au contenu principal' en haut de page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tactiles : 44x44px minimum (Apple HIG) ou 48x48dp (Material Design)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5B2D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7B3FB5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3D1C6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166"/>
                </a:solidFill>
              </a:rPr>
              <a:t>MODULE 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Tendances UI Modernes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D9F0"/>
                </a:solidFill>
              </a:rPr>
              <a:t>Glassmorphism · Micro-interactions · Dark Mode · IA-assisted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1371600" cy="34747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834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030"/>
                </a:solidFill>
              </a:rPr>
              <a:t>⏱ 30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383280"/>
            <a:ext cx="457200" cy="457200"/>
          </a:xfrm>
          <a:prstGeom prst="ellipse">
            <a:avLst/>
          </a:prstGeom>
          <a:solidFill>
            <a:srgbClr val="7B3FB5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4290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Glassmorphism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3383280"/>
            <a:ext cx="457200" cy="457200"/>
          </a:xfrm>
          <a:prstGeom prst="ellipse">
            <a:avLst/>
          </a:prstGeom>
          <a:solidFill>
            <a:srgbClr val="7B3FB5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🌙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34290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Dark Mode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3383280"/>
            <a:ext cx="457200" cy="457200"/>
          </a:xfrm>
          <a:prstGeom prst="ellipse">
            <a:avLst/>
          </a:prstGeom>
          <a:solidFill>
            <a:srgbClr val="7B3FB5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34290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IA-assisted UX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Tendances UI majeures 2024-2025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651760" cy="1828800"/>
          </a:xfrm>
          <a:prstGeom prst="rect">
            <a:avLst/>
          </a:prstGeom>
          <a:solidFill>
            <a:srgbClr val="EDE7F6"/>
          </a:solidFill>
          <a:ln w="12700">
            <a:solidFill>
              <a:srgbClr val="E0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2651760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6" name="Text 4"/>
          <p:cNvSpPr/>
          <p:nvPr/>
        </p:nvSpPr>
        <p:spPr>
          <a:xfrm>
            <a:off x="301752" y="822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Glassmorphism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 verre dépoli. backdrop-filter: blur(20px), semi-transparent + bordure subtile. ⚠️ Toujours tester le contraste.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651760" cy="1828800"/>
          </a:xfrm>
          <a:prstGeom prst="rect">
            <a:avLst/>
          </a:prstGeom>
          <a:solidFill>
            <a:srgbClr val="EDE7F6"/>
          </a:solidFill>
          <a:ln w="12700">
            <a:solidFill>
              <a:srgbClr val="E0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22960"/>
            <a:ext cx="2651760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10" name="Text 8"/>
          <p:cNvSpPr/>
          <p:nvPr/>
        </p:nvSpPr>
        <p:spPr>
          <a:xfrm>
            <a:off x="3273552" y="822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Micro-interactions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1887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subtiles 200-400ms. Confirment les actions. Respecter prefers-reduced-motion. Ne pas animer l'inutile.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822960"/>
            <a:ext cx="2651760" cy="1828800"/>
          </a:xfrm>
          <a:prstGeom prst="rect">
            <a:avLst/>
          </a:prstGeom>
          <a:solidFill>
            <a:srgbClr val="EDE7F6"/>
          </a:solidFill>
          <a:ln w="12700">
            <a:solidFill>
              <a:srgbClr val="E0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822960"/>
            <a:ext cx="2651760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14" name="Text 12"/>
          <p:cNvSpPr/>
          <p:nvPr/>
        </p:nvSpPr>
        <p:spPr>
          <a:xfrm>
            <a:off x="6245352" y="822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Dark Mode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11887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de gris (pas #000 pur), ombres ajustées. Recalculer tous les contrastes. Éviter couleurs saturées.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816352"/>
            <a:ext cx="2651760" cy="1828800"/>
          </a:xfrm>
          <a:prstGeom prst="rect">
            <a:avLst/>
          </a:prstGeom>
          <a:solidFill>
            <a:srgbClr val="EDE7F6"/>
          </a:solidFill>
          <a:ln w="12700">
            <a:solidFill>
              <a:srgbClr val="E0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816352"/>
            <a:ext cx="2651760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18" name="Text 16"/>
          <p:cNvSpPr/>
          <p:nvPr/>
        </p:nvSpPr>
        <p:spPr>
          <a:xfrm>
            <a:off x="301752" y="28163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Bento Grid Layout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3182112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de cartes de tailles variables. Grande flexibilité visuelle, très tendance landing pages. Adapter au mobile.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816352"/>
            <a:ext cx="2651760" cy="1828800"/>
          </a:xfrm>
          <a:prstGeom prst="rect">
            <a:avLst/>
          </a:prstGeom>
          <a:solidFill>
            <a:srgbClr val="EDE7F6"/>
          </a:solidFill>
          <a:ln w="12700">
            <a:solidFill>
              <a:srgbClr val="E0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816352"/>
            <a:ext cx="2651760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22" name="Text 20"/>
          <p:cNvSpPr/>
          <p:nvPr/>
        </p:nvSpPr>
        <p:spPr>
          <a:xfrm>
            <a:off x="3273552" y="28163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AI-assisted Interactions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3182112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adaptatives, suggestions contextuelles, completion intelligente. Transparence sur l'usage de l'IA.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2816352"/>
            <a:ext cx="2651760" cy="1828800"/>
          </a:xfrm>
          <a:prstGeom prst="rect">
            <a:avLst/>
          </a:prstGeom>
          <a:solidFill>
            <a:srgbClr val="EDE7F6"/>
          </a:solidFill>
          <a:ln w="12700">
            <a:solidFill>
              <a:srgbClr val="E0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2816352"/>
            <a:ext cx="2651760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26" name="Text 24"/>
          <p:cNvSpPr/>
          <p:nvPr/>
        </p:nvSpPr>
        <p:spPr>
          <a:xfrm>
            <a:off x="6245352" y="28163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Typographie expressionniste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3182112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polices d'affichage, mix de tailles extrêmes. Lisibilité mobile obligatoire. Hiérarchie claire à maintenir.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Design Systems de référence &amp; Règle d'or des tendances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64008" cy="3749040"/>
          </a:xfrm>
          <a:prstGeom prst="rect">
            <a:avLst/>
          </a:prstGeom>
          <a:solidFill>
            <a:srgbClr val="7B3FB5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91440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Design 3 (Google) — Composants, tokens, directives pour Android/Web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Interface Guidelines (Apple) — Standards iOS/macOS/iPadOS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Design 2 (Microsoft) — Windows et applications Microsoft 365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Polaris (Shopify) — E-commerce et applications marchandes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Design (IBM) — Interfaces enterprise et data-dense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D'OR : Une tendance est un outil, pas un objectif. L'appliquer uniquement si elle améliore l'expérience.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Accessibilité d'abord : aucune tendance visuelle ne justifie de sacrifier lisibilité ou utilisabilité.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F1F1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7548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B8A"/>
                </a:solidFill>
              </a:rPr>
              <a:t>💡 S'inspirer de Dribbble, Awwwards, Mobbin — sans copier : adapter au contexte produit.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5B2D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7B3FB5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3D1C6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166"/>
                </a:solidFill>
              </a:rPr>
              <a:t>MODULE 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Utilisateurs &amp; Amélioration Continue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D9F0"/>
                </a:solidFill>
              </a:rPr>
              <a:t>Méthodes · Heuristiques de Nielsen · Protocole · Itération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1371600" cy="34747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834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030"/>
                </a:solidFill>
              </a:rPr>
              <a:t>⏱ 50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383280"/>
            <a:ext cx="457200" cy="457200"/>
          </a:xfrm>
          <a:prstGeom prst="ellipse">
            <a:avLst/>
          </a:prstGeom>
          <a:solidFill>
            <a:srgbClr val="7B3FB5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🧪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4290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Tests utilisateurs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3383280"/>
            <a:ext cx="457200" cy="457200"/>
          </a:xfrm>
          <a:prstGeom prst="ellipse">
            <a:avLst/>
          </a:prstGeom>
          <a:solidFill>
            <a:srgbClr val="7B3FB5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34290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Mesure &amp; KPIs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3383280"/>
            <a:ext cx="457200" cy="457200"/>
          </a:xfrm>
          <a:prstGeom prst="ellipse">
            <a:avLst/>
          </a:prstGeom>
          <a:solidFill>
            <a:srgbClr val="7B3FB5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34290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Itération continue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Méthodes de tests utilisateurs</a:t>
            </a:r>
            <a:endParaRPr lang="en-US" sz="1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Méthode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Objectif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Format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Quand 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B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Test pensée à voix haute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Observer réactions en temps réel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Modéré, 1 utilisateur, 45-60 min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Prototype mid/high fidelity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Test non modulé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Feedback à grande échelle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Lien prototype partagé, asynchrone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Fin de sprint, avant release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Tri par cartes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Valider architecture de l'information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Ouvert ou fermé, 20-30 participants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Début projet, refonte navigation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Test 5 secondes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Clarté du message et hiérarchie visuelle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Affichage 5s puis questions, 20+ participants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Landing pages, écrans clés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Évaluation heuristique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Audit systématique expert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Expert UX, liste de contrôle structurée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Tout moment, complémentaire aux tests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A/B Testing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Optimiser un KPI spécifique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Mesure quantitative en production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1B4E"/>
                          </a:solidFill>
                        </a:rPr>
                        <a:t>Après validation qualitative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Les 10 heuristiques de Nielsen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651760" cy="1280160"/>
          </a:xfrm>
          <a:prstGeom prst="rect">
            <a:avLst/>
          </a:prstGeom>
          <a:solidFill>
            <a:srgbClr val="EDE7F6"/>
          </a:solidFill>
          <a:ln w="12700">
            <a:solidFill>
              <a:srgbClr val="E0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2651760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6" name="Text 4"/>
          <p:cNvSpPr/>
          <p:nvPr/>
        </p:nvSpPr>
        <p:spPr>
          <a:xfrm>
            <a:off x="301752" y="822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 — Visibilité du statut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informer l'utilisateur de ce qui se passe. Barre de progression, loaders, confirmations.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651760" cy="1280160"/>
          </a:xfrm>
          <a:prstGeom prst="rect">
            <a:avLst/>
          </a:prstGeom>
          <a:solidFill>
            <a:srgbClr val="EDE7F6"/>
          </a:solidFill>
          <a:ln w="12700">
            <a:solidFill>
              <a:srgbClr val="E0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22960"/>
            <a:ext cx="2651760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10" name="Text 8"/>
          <p:cNvSpPr/>
          <p:nvPr/>
        </p:nvSpPr>
        <p:spPr>
          <a:xfrm>
            <a:off x="3273552" y="822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 — Correspondance monde réel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188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utilisateur, pas jargon système. Conventions et métaphores du monde réel.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822960"/>
            <a:ext cx="2651760" cy="1280160"/>
          </a:xfrm>
          <a:prstGeom prst="rect">
            <a:avLst/>
          </a:prstGeom>
          <a:solidFill>
            <a:srgbClr val="EDE7F6"/>
          </a:solidFill>
          <a:ln w="12700">
            <a:solidFill>
              <a:srgbClr val="E0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822960"/>
            <a:ext cx="2651760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14" name="Text 12"/>
          <p:cNvSpPr/>
          <p:nvPr/>
        </p:nvSpPr>
        <p:spPr>
          <a:xfrm>
            <a:off x="6245352" y="822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 — Contrôle &amp; liberté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1188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Sorties clairement marquées. Undo/Redo. L'utilisateur doit pouvoir annuler ses erreurs.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267712"/>
            <a:ext cx="2651760" cy="1280160"/>
          </a:xfrm>
          <a:prstGeom prst="rect">
            <a:avLst/>
          </a:prstGeom>
          <a:solidFill>
            <a:srgbClr val="EDE7F6"/>
          </a:solidFill>
          <a:ln w="12700">
            <a:solidFill>
              <a:srgbClr val="E0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267712"/>
            <a:ext cx="2651760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18" name="Text 16"/>
          <p:cNvSpPr/>
          <p:nvPr/>
        </p:nvSpPr>
        <p:spPr>
          <a:xfrm>
            <a:off x="301752" y="22677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 — Cohérence &amp; standards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263347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mêmes mots, situations et actions doivent toujours signifier la même chose.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267712"/>
            <a:ext cx="2651760" cy="1280160"/>
          </a:xfrm>
          <a:prstGeom prst="rect">
            <a:avLst/>
          </a:prstGeom>
          <a:solidFill>
            <a:srgbClr val="EDE7F6"/>
          </a:solidFill>
          <a:ln w="12700">
            <a:solidFill>
              <a:srgbClr val="E0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267712"/>
            <a:ext cx="2651760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22" name="Text 20"/>
          <p:cNvSpPr/>
          <p:nvPr/>
        </p:nvSpPr>
        <p:spPr>
          <a:xfrm>
            <a:off x="3273552" y="22677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 — Prévention des erreurs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263347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pour éviter les erreurs avant qu'elles surviennent. Meilleur que de bons messages d'erreur.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2267712"/>
            <a:ext cx="2651760" cy="1280160"/>
          </a:xfrm>
          <a:prstGeom prst="rect">
            <a:avLst/>
          </a:prstGeom>
          <a:solidFill>
            <a:srgbClr val="EDE7F6"/>
          </a:solidFill>
          <a:ln w="12700">
            <a:solidFill>
              <a:srgbClr val="E0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2267712"/>
            <a:ext cx="2651760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26" name="Text 24"/>
          <p:cNvSpPr/>
          <p:nvPr/>
        </p:nvSpPr>
        <p:spPr>
          <a:xfrm>
            <a:off x="6245352" y="22677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 — Reconnaissance &gt; Rappel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263347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Minimiser la charge mémorielle. Rendre visibles les objets, actions et options disponibles.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3712464"/>
            <a:ext cx="2651760" cy="1280160"/>
          </a:xfrm>
          <a:prstGeom prst="rect">
            <a:avLst/>
          </a:prstGeom>
          <a:solidFill>
            <a:srgbClr val="EDE7F6"/>
          </a:solidFill>
          <a:ln w="12700">
            <a:solidFill>
              <a:srgbClr val="E0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3712464"/>
            <a:ext cx="2651760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0" name="Text 28"/>
          <p:cNvSpPr/>
          <p:nvPr/>
        </p:nvSpPr>
        <p:spPr>
          <a:xfrm>
            <a:off x="301752" y="371246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 — Flexibilité &amp; efficacité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" y="4078224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Raccourcis pour les experts. Les accélérateurs améliorent l'expérience des utilisateurs avancés.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0" y="3712464"/>
            <a:ext cx="2651760" cy="1280160"/>
          </a:xfrm>
          <a:prstGeom prst="rect">
            <a:avLst/>
          </a:prstGeom>
          <a:solidFill>
            <a:srgbClr val="EDE7F6"/>
          </a:solidFill>
          <a:ln w="12700">
            <a:solidFill>
              <a:srgbClr val="E0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0" y="3712464"/>
            <a:ext cx="2651760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4" name="Text 32"/>
          <p:cNvSpPr/>
          <p:nvPr/>
        </p:nvSpPr>
        <p:spPr>
          <a:xfrm>
            <a:off x="3273552" y="371246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 — Esthétique &amp; minimalisme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91840" y="4078224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d'information non pertinente. Chaque unité supplémentaire dilue les informations importantes.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72200" y="3712464"/>
            <a:ext cx="2651760" cy="1280160"/>
          </a:xfrm>
          <a:prstGeom prst="rect">
            <a:avLst/>
          </a:prstGeom>
          <a:solidFill>
            <a:srgbClr val="EDE7F6"/>
          </a:solidFill>
          <a:ln w="12700">
            <a:solidFill>
              <a:srgbClr val="E0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72200" y="3712464"/>
            <a:ext cx="2651760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8" name="Text 36"/>
          <p:cNvSpPr/>
          <p:nvPr/>
        </p:nvSpPr>
        <p:spPr>
          <a:xfrm>
            <a:off x="6245352" y="371246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09 — Aide à la récupération d'erreur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63640" y="4078224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d'erreur en langage clair, précis, constructifs et proposant une solution.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28600" y="5157216"/>
            <a:ext cx="2651760" cy="1280160"/>
          </a:xfrm>
          <a:prstGeom prst="rect">
            <a:avLst/>
          </a:prstGeom>
          <a:solidFill>
            <a:srgbClr val="EDE7F6"/>
          </a:solidFill>
          <a:ln w="12700">
            <a:solidFill>
              <a:srgbClr val="E0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28600" y="5157216"/>
            <a:ext cx="2651760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42" name="Text 40"/>
          <p:cNvSpPr/>
          <p:nvPr/>
        </p:nvSpPr>
        <p:spPr>
          <a:xfrm>
            <a:off x="301752" y="515721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 — Aide &amp; documentation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20040" y="5522976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Idéalement sans, mais si nécessaire : facile à trouver, centrée tâche, concise, listant étapes concrètes.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3D1C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5B2D8E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166"/>
                </a:solidFill>
              </a:rPr>
              <a:t>Bénéfices mesurés après formation (études 2023-2025)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560320" cy="1691640"/>
          </a:xfrm>
          <a:prstGeom prst="rect">
            <a:avLst/>
          </a:prstGeom>
          <a:solidFill>
            <a:srgbClr val="5B2D8E"/>
          </a:solidFill>
          <a:ln w="12700">
            <a:solidFill>
              <a:srgbClr val="7B3F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+55%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Productivité design avec Figma &amp; composants réutilisables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54680" y="1005840"/>
            <a:ext cx="2560320" cy="1691640"/>
          </a:xfrm>
          <a:prstGeom prst="rect">
            <a:avLst/>
          </a:prstGeom>
          <a:solidFill>
            <a:srgbClr val="5B2D8E"/>
          </a:solidFill>
          <a:ln w="12700">
            <a:solidFill>
              <a:srgbClr val="7B3F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54680" y="10972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-40%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154680" y="18745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de support liés à la confusion d'interface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005840"/>
            <a:ext cx="2560320" cy="1691640"/>
          </a:xfrm>
          <a:prstGeom prst="rect">
            <a:avLst/>
          </a:prstGeom>
          <a:solidFill>
            <a:srgbClr val="5B2D8E"/>
          </a:solidFill>
          <a:ln w="12700">
            <a:solidFill>
              <a:srgbClr val="7B3F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0" y="10972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5943600" y="18745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applicative avec parcours UCD alignés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2560320" cy="1691640"/>
          </a:xfrm>
          <a:prstGeom prst="rect">
            <a:avLst/>
          </a:prstGeom>
          <a:solidFill>
            <a:srgbClr val="5B2D8E"/>
          </a:solidFill>
          <a:ln w="12700">
            <a:solidFill>
              <a:srgbClr val="7B3F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0175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365760" y="3794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RGAA / WCAG 2.1 AA atteignable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54680" y="2926080"/>
            <a:ext cx="2560320" cy="1691640"/>
          </a:xfrm>
          <a:prstGeom prst="rect">
            <a:avLst/>
          </a:prstGeom>
          <a:solidFill>
            <a:srgbClr val="5B2D8E"/>
          </a:solidFill>
          <a:ln w="12700">
            <a:solidFill>
              <a:srgbClr val="7B3F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54680" y="30175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-35%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3154680" y="3794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utilisateurs détectées en test vs prod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030"/>
                </a:solidFill>
              </a:rPr>
              <a:t>🛠 ATELIER PRATIQUE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2D8E"/>
                </a:solidFill>
              </a:rPr>
              <a:t>Audit heuristique &amp; Plan d'action personnel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548640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4E"/>
                </a:solidFill>
              </a:rPr>
              <a:t>🎯 Objectif : Auditer une interface réelle avec les 10 heuristiques de Nielsen et définir son plan d'action post-formation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8E"/>
                </a:solidFill>
              </a:rPr>
              <a:t>Étapes 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414016"/>
            <a:ext cx="320040" cy="320040"/>
          </a:xfrm>
          <a:prstGeom prst="ellipse">
            <a:avLst/>
          </a:prstGeom>
          <a:solidFill>
            <a:srgbClr val="5B2D8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4140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une interface réelle (app mobile ou site web) à auditer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89504"/>
            <a:ext cx="320040" cy="320040"/>
          </a:xfrm>
          <a:prstGeom prst="ellipse">
            <a:avLst/>
          </a:prstGeom>
          <a:solidFill>
            <a:srgbClr val="5B2D8E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8895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89864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Parcourir l'interface et noter les violations des 10 heuristiques de Nielsen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64992"/>
            <a:ext cx="320040" cy="320040"/>
          </a:xfrm>
          <a:prstGeom prst="ellipse">
            <a:avLst/>
          </a:prstGeom>
          <a:solidFill>
            <a:srgbClr val="5B2D8E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3649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37413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Prioriser les problèmes identifiés par sévérité (1 = cosmétique → 4 = bloquant)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320040" cy="320040"/>
          </a:xfrm>
          <a:prstGeom prst="ellipse">
            <a:avLst/>
          </a:prstGeom>
          <a:solidFill>
            <a:srgbClr val="5B2D8E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849624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Rédiger un protocole de test utilisateur pour le prototype Figma créé en atelier 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315968"/>
            <a:ext cx="320040" cy="320040"/>
          </a:xfrm>
          <a:prstGeom prst="ellipse">
            <a:avLst/>
          </a:prstGeom>
          <a:solidFill>
            <a:srgbClr val="5B2D8E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315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432511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son plan d'action personnel en 3 horizons : J+7, J+30, J+90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791456"/>
            <a:ext cx="320040" cy="320040"/>
          </a:xfrm>
          <a:prstGeom prst="ellipse">
            <a:avLst/>
          </a:prstGeom>
          <a:solidFill>
            <a:srgbClr val="5B2D8E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791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48006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en groupe : 1 problème UX identifié + 1 solution proposée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3D1C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5B2D8E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7B3FB5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D166"/>
                </a:solidFill>
              </a:rPr>
              <a:t>Ce que vous savez faire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maintenant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228600" cy="2286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01  Fondamentaux UX/UI — lois, modèles mentaux, affordances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228600" cy="2286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0116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02  Démarche UCD — personas, user journey, recherche utilisateur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42032"/>
            <a:ext cx="228600" cy="2286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468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03  Wireframing &amp; prototypage Figma (low → high fidelity)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99232"/>
            <a:ext cx="228600" cy="2286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260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04  Design System complet — tokens, composants, documentation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456432"/>
            <a:ext cx="228600" cy="2286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3832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05  Accessibilité WCAG 2.1 AA / RGAA — interfaces inclusives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13632"/>
            <a:ext cx="228600" cy="2286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404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06  Tendances UI modernes appliquées avec discernement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370832"/>
            <a:ext cx="228600" cy="2286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2976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07  Tests utilisateurs &amp; heuristiques de Nielsen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D9F0"/>
                </a:solidFill>
              </a:rPr>
              <a:t>Formation IT Modernes  •  UX/UI Design &amp; Expérience Utilisateur  •  Version 1.0 —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Formation UX/UI Design &amp; Expérience Utilisateur</dc:title>
  <dc:subject>PptxGenJS Presentation</dc:subject>
  <dc:creator>Formation IT Modernes</dc:creator>
  <cp:lastModifiedBy>Formation IT Modernes</cp:lastModifiedBy>
  <cp:revision>1</cp:revision>
  <dcterms:created xsi:type="dcterms:W3CDTF">2026-04-20T11:40:52Z</dcterms:created>
  <dcterms:modified xsi:type="dcterms:W3CDTF">2026-04-20T11:40:52Z</dcterms:modified>
</cp:coreProperties>
</file>