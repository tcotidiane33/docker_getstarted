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457200"/>
            <a:ext cx="2834640" cy="2834640"/>
          </a:xfrm>
          <a:prstGeom prst="ellipse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502920"/>
            <a:ext cx="237744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02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FORMATION IT MODERNES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DevOps, CI/CD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Orchestration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•  Kubernetes  •  Docker Swarm  •  Pipelines CI/CD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1920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 minimum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3657600"/>
            <a:ext cx="1920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Intermédiaire → Avancé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46320" y="3657600"/>
            <a:ext cx="1920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Backend / Frontend / Mobile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49440" y="3657600"/>
            <a:ext cx="1920240" cy="868680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6576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49440" y="40233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Présentiel / Distanciel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48006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: IT-DEVOPS-CICD-001  |  Langue : Français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de la formation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4864" cy="123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9751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Fondamentaux DevOps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CALMS • CI vs CD • Philosophie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01568" y="155448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01568" y="1554480"/>
            <a:ext cx="54864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8728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38728" y="19751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&amp; Conteneurisation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38728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• Dockerfile • Compose • Volumes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54496" y="155448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554480"/>
            <a:ext cx="54864" cy="1234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1645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91656" y="197510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&amp; Docker Swarm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391656" y="23042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K8s • Pod • Service • Ingress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17520"/>
            <a:ext cx="54864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" y="34381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 CI/CD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5800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• GitLab CI • Triggers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01568" y="301752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01568" y="3017520"/>
            <a:ext cx="54864" cy="1234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538728" y="34381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environnements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538728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Staging / Prod • Blue/Green • Canary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54496" y="3017520"/>
            <a:ext cx="2697480" cy="123444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017520"/>
            <a:ext cx="54864" cy="123444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91656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E6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391656" y="3438144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Logs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91656" y="37673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• Grafana • ELK • Golden Signals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Pourquoi cette formation 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5204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402336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contexte de transformation digitale, le time-to-market est déterminant. La culture DevOps et la maîtrise des outils d'orchestration sont des compétences essentielles pour tout développeur moderne souhaitant s'intégrer dans des équipes performantes.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429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Automatiser, collaborer, livrer en continu 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09160" y="1188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Objectifs généraux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645920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645920"/>
            <a:ext cx="54864" cy="4206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Culture DevOps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CALMS et principes fondamentaux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39696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2139696"/>
            <a:ext cx="5486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1396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Conteneurisation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2139696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Maîtriser Docker et Docker Compose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633472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33472"/>
            <a:ext cx="54864" cy="42062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33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263347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et Docker Swarm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127248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1272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26480" y="312724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GitLab CI &amp; GitHub Actions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621024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621024"/>
            <a:ext cx="54864" cy="42062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62102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Environnements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3621024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Staging, Production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114800"/>
            <a:ext cx="4114800" cy="42062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4114800"/>
            <a:ext cx="54864" cy="42062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11480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26480" y="411480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Grafana, ELK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CIBLE &amp; PRÉREQUIS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À qui s'adresse cette formation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38328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PUBLIC CIBLE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9385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Backend (Node.js, Python, Java...)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441448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4414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Frontend (React, Vue, Angular...)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944368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24128" y="294436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 Mobile — intégration CI/CD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24128" y="34472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Leads et développeurs seniors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50208"/>
            <a:ext cx="292608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0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395020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personne souhaitant monter en compétences DevOps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4023360" cy="338328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4" name="Shape 22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  PRÉREQUIS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1938528"/>
            <a:ext cx="38404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1938528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d'un langage de programmation (intermédiaire)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955280" y="1984248"/>
            <a:ext cx="685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55280" y="198424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OBLIGATOIRE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846320" y="2487168"/>
            <a:ext cx="38404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 de base de Git (commit, push, pull request)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55280" y="2532888"/>
            <a:ext cx="685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253288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OBLIGATOIRE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4846320" y="3035808"/>
            <a:ext cx="38404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035808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de ligne de commande Linux/Bash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55280" y="3081528"/>
            <a:ext cx="685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308152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OBLIGATOIRE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4846320" y="3584448"/>
            <a:ext cx="38404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3584448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client/serveur et API REST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955280" y="3630168"/>
            <a:ext cx="68580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55280" y="363016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OBLIGATOIRE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846320" y="4133088"/>
            <a:ext cx="384048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133088"/>
            <a:ext cx="3017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en production + notions YAML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955280" y="4178808"/>
            <a:ext cx="68580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0" y="4178808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RECOMMANDÉ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Fondamentaux DevOps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 •  Cours magistral  •  Quiz de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 modèle CALMS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554480" cy="3063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1554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192024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38912" y="257860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Culture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999232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Dev &amp; Ops, responsabilité partagée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84832" y="1691640"/>
            <a:ext cx="1554480" cy="3063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84832" y="1691640"/>
            <a:ext cx="155448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87752" y="1920240"/>
            <a:ext cx="548640" cy="5486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A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157984" y="257860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57984" y="2999232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tests, builds et déploiements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803904" y="1691640"/>
            <a:ext cx="1554480" cy="3063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03904" y="1691640"/>
            <a:ext cx="15544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06824" y="192024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06824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L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877056" y="257860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77056" y="2999232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 gaspillage, améliorer en continu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22976" y="1691640"/>
            <a:ext cx="1554480" cy="3063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22976" y="1691640"/>
            <a:ext cx="1554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25896" y="19202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25896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M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596128" y="257860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2999232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les performances et la qualité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42048" y="1691640"/>
            <a:ext cx="1554480" cy="30632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242048" y="1691640"/>
            <a:ext cx="15544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44968" y="192024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44968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</a:rPr>
              <a:t>S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315200" y="2578608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2999232"/>
            <a:ext cx="140817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Partager les connaissances et les pratiques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 vs CD vs Continuous Deployment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51760" cy="347472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26517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Intégration Continue (CI)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" y="269748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développeurs fusionnent leur code fréquemment dans une branche principale. Chaque commit déclenche automatiquement un build et des tests.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2286000" cy="3474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COMMIT → BUILD → TEST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325880"/>
            <a:ext cx="2651760" cy="347472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325880"/>
            <a:ext cx="265176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47472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Livraison Continue (CD)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93008" y="269748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code validé est automatiquement préparé pour un déploiement en production. La mise en production reste déclenchée manuellement.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4206240"/>
            <a:ext cx="2286000" cy="34747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TEST → STAGING → MANUEL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325880"/>
            <a:ext cx="2651760" cy="3474720"/>
          </a:xfrm>
          <a:prstGeom prst="rect">
            <a:avLst/>
          </a:prstGeom>
          <a:solidFill>
            <a:srgbClr val="0D3B6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25880"/>
            <a:ext cx="265176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309360" y="2148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Déploiement Continu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2697480"/>
            <a:ext cx="243230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modification validée est automatiquement déployée en production sans intervention humaine. Nécessite une couverture de tests excellente.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4206240"/>
            <a:ext cx="228600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TEST → PROD AUTO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090672" y="30175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3017520"/>
            <a:ext cx="3200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&amp; Conteneurisation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•  Cours + Démonstration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VMs vs Conteneurs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1005840" cy="411480"/>
          </a:xfrm>
          <a:prstGeom prst="rect">
            <a:avLst/>
          </a:prstGeom>
          <a:solidFill>
            <a:srgbClr val="0A1628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0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0" y="1600200"/>
            <a:ext cx="1508760" cy="411480"/>
          </a:xfrm>
          <a:prstGeom prst="rect">
            <a:avLst/>
          </a:prstGeom>
          <a:solidFill>
            <a:srgbClr val="0D3B6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Virtuelle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0360" y="1600200"/>
            <a:ext cx="1508760" cy="411480"/>
          </a:xfrm>
          <a:prstGeom prst="rect">
            <a:avLst/>
          </a:prstGeom>
          <a:solidFill>
            <a:srgbClr val="0F766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1600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 Docker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11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201168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80360" y="201168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20116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423160"/>
            <a:ext cx="100584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23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371600" y="2423160"/>
            <a:ext cx="150876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2423160"/>
            <a:ext cx="150876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3464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8346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371600" y="283464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2834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complet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0360" y="283464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283464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Noyau partagé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246120"/>
            <a:ext cx="100584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2461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371600" y="3246120"/>
            <a:ext cx="150876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80360" y="3246120"/>
            <a:ext cx="1508760" cy="411480"/>
          </a:xfrm>
          <a:prstGeom prst="rect">
            <a:avLst/>
          </a:prstGeom>
          <a:solidFill>
            <a:srgbClr val="EEF2F7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80360" y="32461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657600"/>
            <a:ext cx="10058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657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371600" y="365760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élevé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880360" y="3657600"/>
            <a:ext cx="15087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80360" y="3657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Natif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1188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Concepts clés Docker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572000" y="160020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72000" y="1600200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9160" y="16733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09160" y="202082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immuable défini dans un Dockerfile. Couches superposées.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766560" y="1600200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66560" y="1600200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03720" y="167335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Conteneur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6903720" y="202082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en cours d'exécution d'une image. Isolé et léger.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2770632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0" y="2770632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28437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Dockerfile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709160" y="31912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construction d'image. Multi-stage pour optimiser la taille.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66560" y="2770632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766560" y="2770632"/>
            <a:ext cx="64008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03720" y="28437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903720" y="31912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multi-conteneurs en local avec un fichier YAML.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0" y="3941064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0" y="3941064"/>
            <a:ext cx="64008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09160" y="40142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Volumes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4709160" y="43616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des données en dehors du cycle de vie du conteneur.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766560" y="3941064"/>
            <a:ext cx="2057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766560" y="3941064"/>
            <a:ext cx="64008" cy="105156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03720" y="401421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Réseaux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6903720" y="43616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entre conteneurs via bridge, overlay ou host.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&amp; Docker Swarm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  •  Architecture K8s  •  Comparatif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Objets Kubernetes essentiels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993392"/>
            <a:ext cx="64008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" y="2432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petite unité déployable. Contient un ou plusieurs conteneurs.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99339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993392"/>
            <a:ext cx="64008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9584" y="2432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le déploiement et la montée en charge des pods.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9339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17920" y="1993392"/>
            <a:ext cx="64008" cy="10515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20482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4224" y="24323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les pods avec une adresse IP stable et load balancing.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2783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227832"/>
            <a:ext cx="64008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" y="3666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la configuration non-sensible sous forme clé/valeur.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322783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0" y="3227832"/>
            <a:ext cx="64008" cy="1051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29584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529584" y="3666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les données sensibles (mots de passe, tokens) chiffrées.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3227832"/>
            <a:ext cx="2651760" cy="105156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8" name="Shape 26"/>
          <p:cNvSpPr/>
          <p:nvPr/>
        </p:nvSpPr>
        <p:spPr>
          <a:xfrm>
            <a:off x="6217920" y="3227832"/>
            <a:ext cx="64008" cy="10515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3282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64224" y="3666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Gère l'accès HTTP/HTTPS externe vers les services du cluster.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14813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Kubernetes vs Docker Swarm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63640" y="1938528"/>
            <a:ext cx="804672" cy="365760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93852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68312" y="1938528"/>
            <a:ext cx="896112" cy="365760"/>
          </a:xfrm>
          <a:prstGeom prst="rect">
            <a:avLst/>
          </a:prstGeom>
          <a:solidFill>
            <a:srgbClr val="0D3B6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68312" y="193852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964424" y="1938528"/>
            <a:ext cx="859536" cy="365760"/>
          </a:xfrm>
          <a:prstGeom prst="rect">
            <a:avLst/>
          </a:prstGeom>
          <a:solidFill>
            <a:srgbClr val="065F46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64424" y="193852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640" y="2304288"/>
            <a:ext cx="804672" cy="365760"/>
          </a:xfrm>
          <a:prstGeom prst="rect">
            <a:avLst/>
          </a:prstGeom>
          <a:solidFill>
            <a:srgbClr val="0D3B6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30428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68312" y="2304288"/>
            <a:ext cx="896112" cy="365760"/>
          </a:xfrm>
          <a:prstGeom prst="rect">
            <a:avLst/>
          </a:prstGeom>
          <a:solidFill>
            <a:srgbClr val="0D3B6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68312" y="230428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64424" y="2304288"/>
            <a:ext cx="859536" cy="365760"/>
          </a:xfrm>
          <a:prstGeom prst="rect">
            <a:avLst/>
          </a:prstGeom>
          <a:solidFill>
            <a:srgbClr val="0D2D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4424" y="230428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63640" y="2670048"/>
            <a:ext cx="804672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63640" y="267004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068312" y="2670048"/>
            <a:ext cx="896112" cy="365760"/>
          </a:xfrm>
          <a:prstGeom prst="rect">
            <a:avLst/>
          </a:prstGeom>
          <a:solidFill>
            <a:srgbClr val="1B3A5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68312" y="267004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964424" y="2670048"/>
            <a:ext cx="859536" cy="365760"/>
          </a:xfrm>
          <a:prstGeom prst="rect">
            <a:avLst/>
          </a:prstGeom>
          <a:solidFill>
            <a:srgbClr val="1B3C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64424" y="267004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035808"/>
            <a:ext cx="804672" cy="365760"/>
          </a:xfrm>
          <a:prstGeom prst="rect">
            <a:avLst/>
          </a:prstGeom>
          <a:solidFill>
            <a:srgbClr val="0D3B6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303580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Communauté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68312" y="3035808"/>
            <a:ext cx="896112" cy="365760"/>
          </a:xfrm>
          <a:prstGeom prst="rect">
            <a:avLst/>
          </a:prstGeom>
          <a:solidFill>
            <a:srgbClr val="0D3B6E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303580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large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64424" y="3035808"/>
            <a:ext cx="859536" cy="365760"/>
          </a:xfrm>
          <a:prstGeom prst="rect">
            <a:avLst/>
          </a:prstGeom>
          <a:solidFill>
            <a:srgbClr val="0D2D2A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64424" y="303580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Limitée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263640" y="3401568"/>
            <a:ext cx="804672" cy="365760"/>
          </a:xfrm>
          <a:prstGeom prst="rect">
            <a:avLst/>
          </a:prstGeom>
          <a:solidFill>
            <a:srgbClr val="1E3A5F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63640" y="340156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68312" y="3401568"/>
            <a:ext cx="896112" cy="365760"/>
          </a:xfrm>
          <a:prstGeom prst="rect">
            <a:avLst/>
          </a:prstGeom>
          <a:solidFill>
            <a:srgbClr val="1B3A5C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68312" y="3401568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Recommandé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964424" y="3401568"/>
            <a:ext cx="859536" cy="365760"/>
          </a:xfrm>
          <a:prstGeom prst="rect">
            <a:avLst/>
          </a:prstGeom>
          <a:solidFill>
            <a:srgbClr val="1B3C3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964424" y="3401568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Pipelines CI/CD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 •  GitHub Actions  •  GitLab CI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Anatomie d'un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371600" cy="1371600"/>
          </a:xfrm>
          <a:prstGeom prst="ellipse">
            <a:avLst/>
          </a:prstGeom>
          <a:solidFill>
            <a:srgbClr val="8B5CF6">
              <a:alpha val="85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737360" y="2359152"/>
            <a:ext cx="329184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691640"/>
            <a:ext cx="1371600" cy="1371600"/>
          </a:xfrm>
          <a:prstGeom prst="ellipse">
            <a:avLst/>
          </a:prstGeom>
          <a:solidFill>
            <a:srgbClr val="00B4D8">
              <a:alpha val="8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🔨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66544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38144" y="2359152"/>
            <a:ext cx="329184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1691640"/>
            <a:ext cx="1371600" cy="1371600"/>
          </a:xfrm>
          <a:prstGeom prst="ellipse">
            <a:avLst/>
          </a:prstGeom>
          <a:solidFill>
            <a:srgbClr val="14B8A6">
              <a:alpha val="85000"/>
            </a:srgbClr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67328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38928" y="2359152"/>
            <a:ext cx="329184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8112" y="1691640"/>
            <a:ext cx="1371600" cy="1371600"/>
          </a:xfrm>
          <a:prstGeom prst="ellipse">
            <a:avLst/>
          </a:prstGeom>
          <a:solidFill>
            <a:srgbClr val="F97316">
              <a:alpha val="8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68112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39712" y="2359152"/>
            <a:ext cx="329184" cy="0"/>
          </a:xfrm>
          <a:prstGeom prst="line">
            <a:avLst/>
          </a:prstGeom>
          <a:noFill/>
          <a:ln w="19050">
            <a:solidFill>
              <a:srgbClr val="0A16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1691640"/>
            <a:ext cx="1371600" cy="1371600"/>
          </a:xfrm>
          <a:prstGeom prst="ellipse">
            <a:avLst/>
          </a:prstGeom>
          <a:solidFill>
            <a:srgbClr val="22D3EE">
              <a:alpha val="85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68896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168896" y="2514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91840"/>
            <a:ext cx="4160520" cy="16916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291840"/>
            <a:ext cx="41605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91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0292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Fichier .github/workflows/*.yml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9913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Triggers : push, pull_request, schedule...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Jobs &amp; Steps avec runners hébergés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" y="44759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Marketplace d'actions prêtes à l'emploi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" y="4718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Secrets &amp; Variables d'environnement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291840"/>
            <a:ext cx="4160520" cy="169164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291840"/>
            <a:ext cx="416052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2918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GitLab CI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892040" y="37490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Fichier .gitlab-ci.yml à la racine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92040" y="39913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Stages : build &gt; test &gt; deploy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92040" y="4233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Artifacts entre les jobs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92040" y="44759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Environments pour staging/production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92040" y="47183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Auto DevOps intégré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Gestion des environnements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51760" cy="14173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265176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508760" y="1417320"/>
            <a:ext cx="109728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0876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local et tests unitaires. Données fictives, mises à jour fréquentes.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325880"/>
            <a:ext cx="2651760" cy="14173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325880"/>
            <a:ext cx="26517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4343400" y="1417320"/>
            <a:ext cx="109728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STAGING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miroir de la production. Tests d'intégration et de recette.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325880"/>
            <a:ext cx="2651760" cy="141732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1325880"/>
            <a:ext cx="26517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17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7178040" y="1417320"/>
            <a:ext cx="1097280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PRODUCTION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1828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live. Données réelles, haute disponibilité requise.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077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Stratégies de déploiement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383280"/>
            <a:ext cx="2651760" cy="146304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383280"/>
            <a:ext cx="64008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198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/ Green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" y="382219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environnements identiques. Bascule instantanée via load balancer. Rollback immédiat.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" y="4681728"/>
            <a:ext cx="1097280" cy="256032"/>
          </a:xfrm>
          <a:prstGeom prst="rect">
            <a:avLst/>
          </a:prstGeom>
          <a:solidFill>
            <a:srgbClr val="22D3EE">
              <a:alpha val="7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Zéro downtime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20240" y="4681728"/>
            <a:ext cx="1097280" cy="256032"/>
          </a:xfrm>
          <a:prstGeom prst="rect">
            <a:avLst/>
          </a:prstGeom>
          <a:solidFill>
            <a:srgbClr val="22D3EE">
              <a:alpha val="7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Rollback facile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383280" y="3383280"/>
            <a:ext cx="2651760" cy="146304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3" name="Shape 31"/>
          <p:cNvSpPr/>
          <p:nvPr/>
        </p:nvSpPr>
        <p:spPr>
          <a:xfrm>
            <a:off x="3383280" y="3383280"/>
            <a:ext cx="64008" cy="1463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4198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Canary Release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82219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progressif sur un faible % des utilisateurs, puis montée graduelle.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20440" y="4681728"/>
            <a:ext cx="1097280" cy="256032"/>
          </a:xfrm>
          <a:prstGeom prst="rect">
            <a:avLst/>
          </a:prstGeom>
          <a:solidFill>
            <a:srgbClr val="F97316">
              <a:alpha val="7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Test réel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4681728"/>
            <a:ext cx="1097280" cy="256032"/>
          </a:xfrm>
          <a:prstGeom prst="rect">
            <a:avLst/>
          </a:prstGeom>
          <a:solidFill>
            <a:srgbClr val="F97316">
              <a:alpha val="7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Risque réduit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3383280"/>
            <a:ext cx="2651760" cy="1463040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1" name="Shape 39"/>
          <p:cNvSpPr/>
          <p:nvPr/>
        </p:nvSpPr>
        <p:spPr>
          <a:xfrm>
            <a:off x="6217920" y="3383280"/>
            <a:ext cx="64008" cy="1463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1985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Rolling Update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55080" y="3822192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progressif des instances une par une. Stratégie par défaut de Kubernetes.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55080" y="4681728"/>
            <a:ext cx="1097280" cy="256032"/>
          </a:xfrm>
          <a:prstGeom prst="rect">
            <a:avLst/>
          </a:prstGeom>
          <a:solidFill>
            <a:srgbClr val="8B5CF6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Ressources constantes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89520" y="4681728"/>
            <a:ext cx="1097280" cy="256032"/>
          </a:xfrm>
          <a:prstGeom prst="rect">
            <a:avLst/>
          </a:prstGeom>
          <a:solidFill>
            <a:srgbClr val="8B5CF6">
              <a:alpha val="70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46817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Progressif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Monitoring &amp; Logs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0" y="320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 •  Prometheus  •  Grafana  •  ELK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 4 Golden Signals (SRE)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011680" cy="1508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2359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réponse des requêtes. Distinguer succès vs erreurs.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32888" y="1691640"/>
            <a:ext cx="2011680" cy="1508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32888" y="1691640"/>
            <a:ext cx="201168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2624328" y="2359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Traffic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24328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demandes. Requêtes/sec, connexions actives.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0016" y="1691640"/>
            <a:ext cx="2011680" cy="1508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1691640"/>
            <a:ext cx="201168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91456" y="2359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91456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d'erreurs 4xx/5xx. Différencier erreurs client/serveur.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67144" y="1691640"/>
            <a:ext cx="2011680" cy="15087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67144" y="1691640"/>
            <a:ext cx="201168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1783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💾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58584" y="235915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Saturation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58584" y="27249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des ressources (CPU, RAM, disk). Prédire la saturation.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33375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de monitoring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49040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169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métriques par scraping. Format de données time-series.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73552" y="37490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73552" y="3749040"/>
            <a:ext cx="54864" cy="10972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0712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10712" y="4169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visuels. Se connecte à Prometheus et autres sources.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81344" y="374904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374904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18504" y="3794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ELK Stack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18504" y="41696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Logstash + Kibana. Centralisation et analyse des logs.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Programme horaire détaillé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6576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50392" y="1325880"/>
            <a:ext cx="34747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32588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/ Contenu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52544" y="1325880"/>
            <a:ext cx="77724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2544" y="13258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Durée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57216" y="1325880"/>
            <a:ext cx="141732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57216" y="1325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01968" y="1325880"/>
            <a:ext cx="155448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13258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Horaire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773936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773936"/>
            <a:ext cx="64008" cy="3749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73936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0392" y="1773936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DevOps — CALMS, CI/CD, Quiz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52544" y="1773936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157216" y="1773936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magistral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01968" y="1773936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H+00 → H+30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148840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148840"/>
            <a:ext cx="64008" cy="3749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148840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0392" y="2148840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Conteneurisation — Images, Compose, Volumes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52544" y="2148840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57216" y="2148840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01968" y="2148840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H+30 → H+1h15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2523744"/>
            <a:ext cx="8321040" cy="374904"/>
          </a:xfrm>
          <a:prstGeom prst="rect">
            <a:avLst/>
          </a:prstGeom>
          <a:solidFill>
            <a:srgbClr val="1A2744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523744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50392" y="2523744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— Bilan intermédiaire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352544" y="2523744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57216" y="2523744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601968" y="2523744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H+1h15 → H+1h25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2898648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2898648"/>
            <a:ext cx="64008" cy="37490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2898648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50392" y="2898648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&amp; Docker Swarm — Architecture, Objets K8s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52544" y="2898648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157216" y="2898648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01968" y="2898648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H+1h25 → H+2h25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3273552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273552"/>
            <a:ext cx="64008" cy="37490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273552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0392" y="3273552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CI/CD — GitHub Actions, GitLab CI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52544" y="3273552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157216" y="3273552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601968" y="3273552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H+2h25 → H+3h10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3648456"/>
            <a:ext cx="8321040" cy="374904"/>
          </a:xfrm>
          <a:prstGeom prst="rect">
            <a:avLst/>
          </a:prstGeom>
          <a:solidFill>
            <a:srgbClr val="1A2744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648456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0392" y="3648456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— Q&amp;A mi-parcours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352544" y="3648456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57216" y="3648456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601968" y="3648456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H+3h10 → H+3h20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4023360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7200" y="4023360"/>
            <a:ext cx="64008" cy="37490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4023360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50392" y="4023360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environnements — Blue/Green, Canary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352544" y="4023360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157216" y="4023360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601968" y="4023360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H+3h20 → H+3h50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4398264"/>
            <a:ext cx="8321040" cy="374904"/>
          </a:xfrm>
          <a:prstGeom prst="rect">
            <a:avLst/>
          </a:prstGeom>
          <a:solidFill>
            <a:srgbClr val="0D3B6E"/>
          </a:solidFill>
          <a:ln w="3810">
            <a:solidFill>
              <a:srgbClr val="0A162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7200" y="4398264"/>
            <a:ext cx="64008" cy="374904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4398264"/>
            <a:ext cx="365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50392" y="4398264"/>
            <a:ext cx="34747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Logs — Prometheus, Grafana, ELK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352544" y="4398264"/>
            <a:ext cx="77724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57216" y="4398264"/>
            <a:ext cx="141732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601968" y="4398264"/>
            <a:ext cx="1554480" cy="37490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H+3h50 → H+4h20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57200" y="4800600"/>
            <a:ext cx="832104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7200" y="480060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TOTAL (hors pauses) : 4h20  —  Durée minimale garantie : 4h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PÉDAGOGIQUES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Apprendre en faisant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3611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Apports théoriques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8105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773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magistraux illustrés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963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59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visuels et schémas d'architecture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1821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1455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Comparatifs technologiques (VM vs conteneurs)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313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Fiches récapitulatives par module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73552" y="1188720"/>
            <a:ext cx="2743200" cy="3611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188720"/>
            <a:ext cx="2743200" cy="4754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1887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Mises en pratique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10712" y="18105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1773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Démonstrations en live coding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10712" y="24963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2459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ateliers progressifs guidés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31821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1455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final intégrateur (60 min)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10712" y="38679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85032" y="38313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sandbox prêt à l'emploi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81344" y="1188720"/>
            <a:ext cx="2743200" cy="361188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1344" y="1188720"/>
            <a:ext cx="274320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72784" y="118872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Échanges &amp; interactions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18504" y="181051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17739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validation (Module 1)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18504" y="249631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92824" y="24597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après chaque module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18504" y="318211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31455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 d'expérience des participants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18504" y="3867912"/>
            <a:ext cx="201168" cy="20116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2824" y="383133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de bonnes pratiques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14B8A6">
              <a:alpha val="8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🖥  Requis : Docker Desktop • VS Code • Compte GitHub • Connexion stable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vous saurez faire à l'issue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08176"/>
            <a:ext cx="41148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081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43000" y="138074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 la philosophie DevOps et le modèle CALMS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766560" y="1417320"/>
            <a:ext cx="1783080" cy="301752"/>
          </a:xfrm>
          <a:prstGeom prst="rect">
            <a:avLst/>
          </a:prstGeom>
          <a:solidFill>
            <a:srgbClr val="00B4D8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4173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Maîtrise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185166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1851660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1933956"/>
            <a:ext cx="41148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3395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190652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optimiser des images Docker (Dockerfile multistage)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66560" y="1943100"/>
            <a:ext cx="1783080" cy="301752"/>
          </a:xfrm>
          <a:prstGeom prst="rect">
            <a:avLst/>
          </a:prstGeom>
          <a:solidFill>
            <a:srgbClr val="00B4D8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19431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Maîtrise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48640" y="237744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377440"/>
            <a:ext cx="54864" cy="4937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2459736"/>
            <a:ext cx="411480" cy="32918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45973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243230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 des services multi-conteneurs avec Docker Compose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468880"/>
            <a:ext cx="1783080" cy="301752"/>
          </a:xfrm>
          <a:prstGeom prst="rect">
            <a:avLst/>
          </a:prstGeom>
          <a:solidFill>
            <a:srgbClr val="00B4D8">
              <a:alpha val="30000"/>
            </a:srgbClr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46888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Maîtrise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290322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2903220"/>
            <a:ext cx="54864" cy="4937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2985516"/>
            <a:ext cx="41148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98551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43000" y="295808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une application sur un cluster Kubernetes (kubectl, YAML)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2994660"/>
            <a:ext cx="1783080" cy="301752"/>
          </a:xfrm>
          <a:prstGeom prst="rect">
            <a:avLst/>
          </a:prstGeom>
          <a:solidFill>
            <a:srgbClr val="14B8A6">
              <a:alpha val="3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99466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Application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8640" y="342900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3429000"/>
            <a:ext cx="54864" cy="4937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3511296"/>
            <a:ext cx="411480" cy="3291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51129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43000" y="348386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Configurer un pipeline CI/CD sur GitHub Actions ou GitLab CI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766560" y="3520440"/>
            <a:ext cx="1783080" cy="301752"/>
          </a:xfrm>
          <a:prstGeom prst="rect">
            <a:avLst/>
          </a:prstGeom>
          <a:solidFill>
            <a:srgbClr val="14B8A6">
              <a:alpha val="3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52044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Application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48640" y="395478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1" name="Shape 39"/>
          <p:cNvSpPr/>
          <p:nvPr/>
        </p:nvSpPr>
        <p:spPr>
          <a:xfrm>
            <a:off x="548640" y="3954780"/>
            <a:ext cx="54864" cy="4937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4037076"/>
            <a:ext cx="411480" cy="32918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03707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43000" y="400964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et appliquer une stratégie de déploiement (Blue/Green, Canary)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766560" y="4046220"/>
            <a:ext cx="1783080" cy="301752"/>
          </a:xfrm>
          <a:prstGeom prst="rect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04622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Compréhension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4480560"/>
            <a:ext cx="8229600" cy="493776"/>
          </a:xfrm>
          <a:prstGeom prst="rect">
            <a:avLst/>
          </a:prstGeom>
          <a:solidFill>
            <a:srgbClr val="0D3B6E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4480560"/>
            <a:ext cx="54864" cy="4937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4562856"/>
            <a:ext cx="411480" cy="32918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4562856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43000" y="453542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 monitoring avec Prometheus/Grafana et centraliser les logs (ELK)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766560" y="4572000"/>
            <a:ext cx="1783080" cy="301752"/>
          </a:xfrm>
          <a:prstGeom prst="rect">
            <a:avLst/>
          </a:prstGeom>
          <a:solidFill>
            <a:srgbClr val="22D3EE">
              <a:alpha val="3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766560" y="4572000"/>
            <a:ext cx="1783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Sensibilisation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vous maîtriserez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72184"/>
            <a:ext cx="384048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30759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et expliquer la philosophie DevOps, la culture CALMS et les bénéfices du CI/CD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46320" y="123444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234440"/>
            <a:ext cx="54864" cy="8412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83480" y="1472184"/>
            <a:ext cx="384048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30759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Conteneuriser une application avec Docker (Dockerfile, images, volumes, réseaux)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240280"/>
            <a:ext cx="54864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478024"/>
            <a:ext cx="38404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31343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Orchestrer des services multi-conteneurs avec Docker Compose en environnement local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224028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240280"/>
            <a:ext cx="54864" cy="8412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2478024"/>
            <a:ext cx="384048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83480" y="2478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31343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et gérer une application sur un cluster Kubernetes (Deployments, Services, ConfigMaps)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246120"/>
            <a:ext cx="54864" cy="8412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483864"/>
            <a:ext cx="384048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05840" y="331927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et configurer des pipelines CI/CD automatisés avec GitHub Actions ou GitLab CI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46320" y="3246120"/>
            <a:ext cx="42976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3246120"/>
            <a:ext cx="54864" cy="8412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3483864"/>
            <a:ext cx="384048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0" y="3319272"/>
            <a:ext cx="3520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environnements dev/staging/production et appliquer les stratégies de déploiement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4251960"/>
            <a:ext cx="841248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65760" y="4251960"/>
            <a:ext cx="54864" cy="8412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" y="4489704"/>
            <a:ext cx="384048" cy="384048"/>
          </a:xfrm>
          <a:prstGeom prst="rect">
            <a:avLst/>
          </a:prstGeom>
          <a:solidFill>
            <a:srgbClr val="A3E635"/>
          </a:solidFill>
          <a:ln w="12700">
            <a:solidFill>
              <a:srgbClr val="A3E6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05840" y="4325112"/>
            <a:ext cx="7635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le monitoring (Prometheus/Grafana) et la gestion centralisée des logs (ELK)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0096C7">
              <a:alpha val="20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Prêt à automatiser,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déployer &amp; monitorer ?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2743200" y="269748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39112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46704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46704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54296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61888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69480" y="2926080"/>
            <a:ext cx="1188720" cy="347472"/>
          </a:xfrm>
          <a:prstGeom prst="rect">
            <a:avLst/>
          </a:prstGeom>
          <a:solidFill>
            <a:srgbClr val="0D3B6E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IT Modernes  •  Code : IT-DEVOPS-CICD-001  •  4h  •  Français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4572000"/>
            <a:ext cx="329184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5720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</a:rPr>
              <a:t>© Formation IT Modernes — Catalogue DevOps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DevOps, CI/CD &amp; Orchestration</dc:title>
  <dc:subject>PptxGenJS Presentation</dc:subject>
  <dc:creator>Formation IT Modernes</dc:creator>
  <cp:lastModifiedBy>Formation IT Modernes</cp:lastModifiedBy>
  <cp:revision>1</cp:revision>
  <dcterms:created xsi:type="dcterms:W3CDTF">2026-04-20T17:44:57Z</dcterms:created>
  <dcterms:modified xsi:type="dcterms:W3CDTF">2026-04-20T17:44:57Z</dcterms:modified>
</cp:coreProperties>
</file>