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notesMasterIdLst>
    <p:notesMasterId r:id="rId3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notesMaster" Target="notesMasters/notesMaster1.xml"/><Relationship Id="rId38" Type="http://schemas.openxmlformats.org/officeDocument/2006/relationships/presProps" Target="presProps.xml"/><Relationship Id="rId39" Type="http://schemas.openxmlformats.org/officeDocument/2006/relationships/viewProps" Target="viewProps.xml"/><Relationship Id="rId40" Type="http://schemas.openxmlformats.org/officeDocument/2006/relationships/theme" Target="theme/theme1.xml"/><Relationship Id="rId4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Artificielle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Agentic AI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457200" y="2331720"/>
            <a:ext cx="4114800" cy="54864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2468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 complète pour développeurs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57200" y="3200400"/>
            <a:ext cx="1463040" cy="347472"/>
          </a:xfrm>
          <a:prstGeom prst="roundRect">
            <a:avLst>
              <a:gd name="adj" fmla="val 13158"/>
            </a:avLst>
          </a:prstGeom>
          <a:solidFill>
            <a:srgbClr val="1565C0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320040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4 heures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103120" y="3200400"/>
            <a:ext cx="1463040" cy="347472"/>
          </a:xfrm>
          <a:prstGeom prst="roundRect">
            <a:avLst>
              <a:gd name="adj" fmla="val 13158"/>
            </a:avLst>
          </a:prstGeom>
          <a:solidFill>
            <a:srgbClr val="00897B"/>
          </a:solidFill>
          <a:ln/>
        </p:spPr>
      </p:sp>
      <p:sp>
        <p:nvSpPr>
          <p:cNvPr id="10" name="Text 8"/>
          <p:cNvSpPr/>
          <p:nvPr/>
        </p:nvSpPr>
        <p:spPr>
          <a:xfrm>
            <a:off x="2103120" y="320040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Intermédiaire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749040" y="3200400"/>
            <a:ext cx="1463040" cy="347472"/>
          </a:xfrm>
          <a:prstGeom prst="roundRect">
            <a:avLst>
              <a:gd name="adj" fmla="val 13158"/>
            </a:avLst>
          </a:prstGeom>
          <a:solidFill>
            <a:srgbClr val="6A1B9A"/>
          </a:solidFill>
          <a:ln/>
        </p:spPr>
      </p:sp>
      <p:sp>
        <p:nvSpPr>
          <p:cNvPr id="12" name="Text 10"/>
          <p:cNvSpPr/>
          <p:nvPr/>
        </p:nvSpPr>
        <p:spPr>
          <a:xfrm>
            <a:off x="3749040" y="320040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👩‍💻 Développeurs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4023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• NLP • Agents Autonomes • Prompt Engineering • CI/CD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 IT Modernes • Version 1.0 — 2025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Sommaire de la formation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804672"/>
            <a:ext cx="8412480" cy="36576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005840"/>
            <a:ext cx="274320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05840"/>
            <a:ext cx="2743200" cy="41148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07899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194560" y="107899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min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150876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à l'IA — LLM &amp; NLP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154680" y="1005840"/>
            <a:ext cx="274320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154680" y="1005840"/>
            <a:ext cx="2743200" cy="411480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11" name="Text 9"/>
          <p:cNvSpPr/>
          <p:nvPr/>
        </p:nvSpPr>
        <p:spPr>
          <a:xfrm>
            <a:off x="3246120" y="107899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74920" y="107899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min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246120" y="150876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— Agents autonomes &amp; Workflows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035040" y="1005840"/>
            <a:ext cx="274320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35040" y="1005840"/>
            <a:ext cx="2743200" cy="411480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16" name="Text 14"/>
          <p:cNvSpPr/>
          <p:nvPr/>
        </p:nvSpPr>
        <p:spPr>
          <a:xfrm>
            <a:off x="6126480" y="107899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955280" y="107899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min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126480" y="150876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Outils IA pour développeurs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74320" y="2971800"/>
            <a:ext cx="274320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2971800"/>
            <a:ext cx="2743200" cy="411480"/>
          </a:xfrm>
          <a:prstGeom prst="rect">
            <a:avLst/>
          </a:prstGeom>
          <a:solidFill>
            <a:srgbClr val="FF8F00"/>
          </a:solidFill>
          <a:ln/>
        </p:spPr>
      </p:sp>
      <p:sp>
        <p:nvSpPr>
          <p:cNvPr id="21" name="Text 19"/>
          <p:cNvSpPr/>
          <p:nvPr/>
        </p:nvSpPr>
        <p:spPr>
          <a:xfrm>
            <a:off x="365760" y="304495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194560" y="3044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min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65760" y="347472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Génération de code, tests &amp; documentation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154680" y="2971800"/>
            <a:ext cx="274320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154680" y="2971800"/>
            <a:ext cx="2743200" cy="41148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26" name="Text 24"/>
          <p:cNvSpPr/>
          <p:nvPr/>
        </p:nvSpPr>
        <p:spPr>
          <a:xfrm>
            <a:off x="3246120" y="304495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05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074920" y="3044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min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246120" y="347472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Debug, Refactoring &amp; CI/CD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035040" y="2971800"/>
            <a:ext cx="274320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035040" y="2971800"/>
            <a:ext cx="2743200" cy="411480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31" name="Text 29"/>
          <p:cNvSpPr/>
          <p:nvPr/>
        </p:nvSpPr>
        <p:spPr>
          <a:xfrm>
            <a:off x="6126480" y="304495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06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955280" y="3044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min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126480" y="347472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Bonnes pratiques, limites &amp; perspectives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645920"/>
            <a:ext cx="84124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01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à l'IA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&amp; NLP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365760" y="3383280"/>
            <a:ext cx="1828800" cy="64008"/>
          </a:xfrm>
          <a:prstGeom prst="rect">
            <a:avLst/>
          </a:prstGeom>
          <a:solidFill>
            <a:srgbClr val="00BCD4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paysage de l'IA — Du ML à l'Agentic AI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804672"/>
            <a:ext cx="8412480" cy="36576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4" name="Shape 2"/>
          <p:cNvSpPr/>
          <p:nvPr/>
        </p:nvSpPr>
        <p:spPr>
          <a:xfrm>
            <a:off x="182880" y="1005840"/>
            <a:ext cx="8229600" cy="54864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5" name="Text 3"/>
          <p:cNvSpPr/>
          <p:nvPr/>
        </p:nvSpPr>
        <p:spPr>
          <a:xfrm>
            <a:off x="182880" y="1005840"/>
            <a:ext cx="3703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Artificielle (IA)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968496" y="1005840"/>
            <a:ext cx="44439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Domaine global simulant l'intelligence humaine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68680" y="1764792"/>
            <a:ext cx="6858000" cy="548640"/>
          </a:xfrm>
          <a:prstGeom prst="rect">
            <a:avLst/>
          </a:prstGeom>
          <a:solidFill>
            <a:srgbClr val="1976D2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1764792"/>
            <a:ext cx="30861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(ML)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023360" y="1764792"/>
            <a:ext cx="3703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Apprend à partir de données sans être explicitement programmé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554480" y="2523744"/>
            <a:ext cx="5486400" cy="548640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11" name="Text 9"/>
          <p:cNvSpPr/>
          <p:nvPr/>
        </p:nvSpPr>
        <p:spPr>
          <a:xfrm>
            <a:off x="1554480" y="2523744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(DL)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078224" y="2523744"/>
            <a:ext cx="29626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Réseaux de neurones profonds — traite images, son, texte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240280" y="3282696"/>
            <a:ext cx="4114800" cy="548640"/>
          </a:xfrm>
          <a:prstGeom prst="rect">
            <a:avLst/>
          </a:prstGeom>
          <a:solidFill>
            <a:srgbClr val="00ACC1"/>
          </a:solidFill>
          <a:ln/>
        </p:spPr>
      </p:sp>
      <p:sp>
        <p:nvSpPr>
          <p:cNvPr id="14" name="Text 12"/>
          <p:cNvSpPr/>
          <p:nvPr/>
        </p:nvSpPr>
        <p:spPr>
          <a:xfrm>
            <a:off x="2240280" y="3282696"/>
            <a:ext cx="18516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/ LLM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133088" y="3282696"/>
            <a:ext cx="22219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Modèles de langage naturel de grande taille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926080" y="4041648"/>
            <a:ext cx="2743200" cy="548640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17" name="Text 15"/>
          <p:cNvSpPr/>
          <p:nvPr/>
        </p:nvSpPr>
        <p:spPr>
          <a:xfrm>
            <a:off x="2926080" y="4041648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187952" y="4041648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autonomes capables d'agir &amp; planifier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fonctionne un LLM ?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804672"/>
            <a:ext cx="8412480" cy="36576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4" name="Shape 2"/>
          <p:cNvSpPr/>
          <p:nvPr/>
        </p:nvSpPr>
        <p:spPr>
          <a:xfrm>
            <a:off x="228600" y="960120"/>
            <a:ext cx="2743200" cy="3840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960120"/>
            <a:ext cx="2743200" cy="45720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9601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🔤 Tokenisation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20040" y="1508760"/>
            <a:ext cx="256032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texte est découpé en tokens (mots ou sous-mots)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 : 'développeur' → ['dével', 'oppeur']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 : ~100 000 tokens de vocabulaire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token ≈ 0,75 mot en anglais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154680" y="960120"/>
            <a:ext cx="2743200" cy="3840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154680" y="960120"/>
            <a:ext cx="2743200" cy="457200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10" name="Text 8"/>
          <p:cNvSpPr/>
          <p:nvPr/>
        </p:nvSpPr>
        <p:spPr>
          <a:xfrm>
            <a:off x="3246120" y="9601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Transformer &amp; Attention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46120" y="1508760"/>
            <a:ext cx="256032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Transformer (2017, Google)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Mécanisme d'attention : poids entre tous les tokens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Comprend le contexte à longue distance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Milliards de paramètres entraînés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080760" y="960120"/>
            <a:ext cx="2743200" cy="3840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080760" y="960120"/>
            <a:ext cx="2743200" cy="457200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14" name="Text 12"/>
          <p:cNvSpPr/>
          <p:nvPr/>
        </p:nvSpPr>
        <p:spPr>
          <a:xfrm>
            <a:off x="6172200" y="9601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🌡️ Température &amp; Sampling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172200" y="1508760"/>
            <a:ext cx="256032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Température 0 → réponse déterministe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Température 1 → créative, variée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Top-p, Top-k : contrôle la diversité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reproductibilité n'est pas garantie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Window — La mémoire du modèle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804672"/>
            <a:ext cx="8412480" cy="36576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1005840"/>
            <a:ext cx="8412480" cy="1188720"/>
          </a:xfrm>
          <a:prstGeom prst="rect">
            <a:avLst/>
          </a:prstGeom>
          <a:solidFill>
            <a:srgbClr val="EDE7F6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0058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WINDOW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2468880" cy="640080"/>
          </a:xfrm>
          <a:prstGeom prst="rect">
            <a:avLst/>
          </a:prstGeom>
          <a:solidFill>
            <a:srgbClr val="7986CB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41732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Historique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063240" y="1417320"/>
            <a:ext cx="2468880" cy="640080"/>
          </a:xfrm>
          <a:prstGeom prst="rect">
            <a:avLst/>
          </a:prstGeom>
          <a:solidFill>
            <a:srgbClr val="64B5F6"/>
          </a:solidFill>
          <a:ln/>
        </p:spPr>
      </p:sp>
      <p:sp>
        <p:nvSpPr>
          <p:cNvPr id="9" name="Text 7"/>
          <p:cNvSpPr/>
          <p:nvPr/>
        </p:nvSpPr>
        <p:spPr>
          <a:xfrm>
            <a:off x="3063240" y="141732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ou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623560" y="1417320"/>
            <a:ext cx="1554480" cy="640080"/>
          </a:xfrm>
          <a:prstGeom prst="rect">
            <a:avLst/>
          </a:prstGeom>
          <a:solidFill>
            <a:srgbClr val="4DD0E1"/>
          </a:solidFill>
          <a:ln/>
        </p:spPr>
      </p:sp>
      <p:sp>
        <p:nvSpPr>
          <p:cNvPr id="11" name="Text 9"/>
          <p:cNvSpPr/>
          <p:nvPr/>
        </p:nvSpPr>
        <p:spPr>
          <a:xfrm>
            <a:off x="5623560" y="141732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système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269480" y="1417320"/>
            <a:ext cx="1371600" cy="640080"/>
          </a:xfrm>
          <a:prstGeom prst="rect">
            <a:avLst/>
          </a:prstGeom>
          <a:solidFill>
            <a:srgbClr val="81C784"/>
          </a:solidFill>
          <a:ln/>
        </p:spPr>
      </p:sp>
      <p:sp>
        <p:nvSpPr>
          <p:cNvPr id="13" name="Text 11"/>
          <p:cNvSpPr/>
          <p:nvPr/>
        </p:nvSpPr>
        <p:spPr>
          <a:xfrm>
            <a:off x="7269480" y="141732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générée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5760" y="242316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Comparatif des fenêtres contextuelles (2025)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2788920"/>
            <a:ext cx="192024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788920"/>
            <a:ext cx="1920240" cy="64008"/>
          </a:xfrm>
          <a:prstGeom prst="rect">
            <a:avLst/>
          </a:prstGeom>
          <a:solidFill>
            <a:srgbClr val="546E7A"/>
          </a:solidFill>
          <a:ln/>
        </p:spPr>
      </p:sp>
      <p:sp>
        <p:nvSpPr>
          <p:cNvPr id="17" name="Text 15"/>
          <p:cNvSpPr/>
          <p:nvPr/>
        </p:nvSpPr>
        <p:spPr>
          <a:xfrm>
            <a:off x="365760" y="28803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GPT-3.5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65760" y="32918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4K tokens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365760" y="37490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~3 000 mots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468880" y="2788920"/>
            <a:ext cx="192024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468880" y="2788920"/>
            <a:ext cx="1920240" cy="6400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22" name="Text 20"/>
          <p:cNvSpPr/>
          <p:nvPr/>
        </p:nvSpPr>
        <p:spPr>
          <a:xfrm>
            <a:off x="2468880" y="28803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468880" y="32918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128K tokens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2468880" y="37490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~96 000 mots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0" y="2788920"/>
            <a:ext cx="192024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72000" y="2788920"/>
            <a:ext cx="1920240" cy="64008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0" y="28803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3.5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572000" y="32918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200K tokens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4572000" y="37490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~150 000 mots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675120" y="2788920"/>
            <a:ext cx="192024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675120" y="2788920"/>
            <a:ext cx="1920240" cy="64008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32" name="Text 30"/>
          <p:cNvSpPr/>
          <p:nvPr/>
        </p:nvSpPr>
        <p:spPr>
          <a:xfrm>
            <a:off x="6675120" y="28803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1.5 Pro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675120" y="32918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1M tokens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6675120" y="37490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~750 000 mots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Modèles de référence 2025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804672"/>
            <a:ext cx="8412480" cy="36576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4" name="Shape 2"/>
          <p:cNvSpPr/>
          <p:nvPr/>
        </p:nvSpPr>
        <p:spPr>
          <a:xfrm>
            <a:off x="228600" y="1005840"/>
            <a:ext cx="274320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1005840"/>
            <a:ext cx="2743200" cy="64008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11556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 / o3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20040" y="146304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20040" y="173736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💪 Multimodal, reasoning avancé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20040" y="212140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Code, analyse, vision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154680" y="1005840"/>
            <a:ext cx="274320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154680" y="1005840"/>
            <a:ext cx="2743200" cy="64008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12" name="Text 10"/>
          <p:cNvSpPr/>
          <p:nvPr/>
        </p:nvSpPr>
        <p:spPr>
          <a:xfrm>
            <a:off x="3246120" y="111556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3.5 / 3.7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246120" y="146304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246120" y="173736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💪 Code, analyse long document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246120" y="212140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Dev, sécurité, documents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080760" y="1005840"/>
            <a:ext cx="274320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80760" y="1005840"/>
            <a:ext cx="2743200" cy="6400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8" name="Text 16"/>
          <p:cNvSpPr/>
          <p:nvPr/>
        </p:nvSpPr>
        <p:spPr>
          <a:xfrm>
            <a:off x="6172200" y="111556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1.5 Pro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172200" y="146304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172200" y="173736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💪 Contexte 1M tokens, multimodal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172200" y="212140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Analyse, audio, vidéo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28600" y="2971800"/>
            <a:ext cx="274320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28600" y="2971800"/>
            <a:ext cx="2743200" cy="64008"/>
          </a:xfrm>
          <a:prstGeom prst="rect">
            <a:avLst/>
          </a:prstGeom>
          <a:solidFill>
            <a:srgbClr val="FF8F00"/>
          </a:solidFill>
          <a:ln/>
        </p:spPr>
      </p:sp>
      <p:sp>
        <p:nvSpPr>
          <p:cNvPr id="24" name="Text 22"/>
          <p:cNvSpPr/>
          <p:nvPr/>
        </p:nvSpPr>
        <p:spPr>
          <a:xfrm>
            <a:off x="320040" y="308152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8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3.x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20040" y="342900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(open)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20040" y="370332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💪 Open source, auto-hébergeable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320040" y="408736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Privacy, on-premise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154680" y="2971800"/>
            <a:ext cx="274320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154680" y="2971800"/>
            <a:ext cx="2743200" cy="64008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30" name="Text 28"/>
          <p:cNvSpPr/>
          <p:nvPr/>
        </p:nvSpPr>
        <p:spPr>
          <a:xfrm>
            <a:off x="3246120" y="308152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Mistral / Mixtral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3246120" y="342900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Mistral AI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246120" y="370332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💪 Efficace, européen, open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3246120" y="408736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Edge, RGPD, local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080760" y="2971800"/>
            <a:ext cx="274320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080760" y="2971800"/>
            <a:ext cx="2743200" cy="64008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36" name="Text 34"/>
          <p:cNvSpPr/>
          <p:nvPr/>
        </p:nvSpPr>
        <p:spPr>
          <a:xfrm>
            <a:off x="6172200" y="308152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DeepSeek R1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6172200" y="342900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DeepSeek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172200" y="370332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💪 Reasoning, très économique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6172200" y="408736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Maths, code, raisonnement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645920"/>
            <a:ext cx="84124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02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Autonomes &amp; Workflows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365760" y="3383280"/>
            <a:ext cx="1828800" cy="64008"/>
          </a:xfrm>
          <a:prstGeom prst="rect">
            <a:avLst/>
          </a:prstGeom>
          <a:solidFill>
            <a:srgbClr val="00BCD4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Qu'est-ce qu'un Agent IA ?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804672"/>
            <a:ext cx="8412480" cy="36576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005840"/>
            <a:ext cx="4114800" cy="384048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0972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Définition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65760" y="1508760"/>
            <a:ext cx="38404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agent IA est un système capable de :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Percevoir son environnement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Raisonner de façon autonome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Planifier des séquences d'actions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Utiliser des outils externes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S'adapter en fonction des résultats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Sans nécessiter d'instructions étape par étape.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663440" y="1005840"/>
            <a:ext cx="4114800" cy="1691640"/>
          </a:xfrm>
          <a:prstGeom prst="rect">
            <a:avLst/>
          </a:prstGeom>
          <a:solidFill>
            <a:srgbClr val="FFECB3"/>
          </a:solidFill>
          <a:ln/>
        </p:spPr>
      </p:sp>
      <p:sp>
        <p:nvSpPr>
          <p:cNvPr id="8" name="Text 6"/>
          <p:cNvSpPr/>
          <p:nvPr/>
        </p:nvSpPr>
        <p:spPr>
          <a:xfrm>
            <a:off x="4754880" y="107899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8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seul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754880" y="1444752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→ Réponse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seule interaction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mémoire, pas d'outils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63440" y="2880360"/>
            <a:ext cx="4114800" cy="1965960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11" name="Text 9"/>
          <p:cNvSpPr/>
          <p:nvPr/>
        </p:nvSpPr>
        <p:spPr>
          <a:xfrm>
            <a:off x="4754880" y="295351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IA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754880" y="3319272"/>
            <a:ext cx="3840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 → Plan → Actions → Outils → Résultat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Mémoire entre les étapes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Appelle APIs, lit fichiers, exécute du code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corrige si une étape échoue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cycle ReAct — Reason + Act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804672"/>
            <a:ext cx="8412480" cy="36576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0" y="2103120"/>
            <a:ext cx="2743200" cy="1828800"/>
          </a:xfrm>
          <a:prstGeom prst="ellipse">
            <a:avLst/>
          </a:prstGeom>
          <a:solidFill>
            <a:srgbClr val="0A1628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0" y="2103120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IA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Loop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474720" y="914400"/>
            <a:ext cx="1645920" cy="594360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7" name="Text 5"/>
          <p:cNvSpPr/>
          <p:nvPr/>
        </p:nvSpPr>
        <p:spPr>
          <a:xfrm>
            <a:off x="3474720" y="91440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017520" y="155448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Percevoir l'état actuel, inputs, résultats précédents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943600" y="2194560"/>
            <a:ext cx="1645920" cy="594360"/>
          </a:xfrm>
          <a:prstGeom prst="ellipse">
            <a:avLst/>
          </a:prstGeom>
          <a:solidFill>
            <a:srgbClr val="6A1B9A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0" y="219456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0" y="283464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Raisonner : que faire maintenant ? Quelle action ?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303520" y="3749040"/>
            <a:ext cx="1645920" cy="594360"/>
          </a:xfrm>
          <a:prstGeom prst="ellipse">
            <a:avLst/>
          </a:prstGeom>
          <a:solidFill>
            <a:srgbClr val="00897B"/>
          </a:solidFill>
          <a:ln/>
        </p:spPr>
      </p:sp>
      <p:sp>
        <p:nvSpPr>
          <p:cNvPr id="13" name="Text 11"/>
          <p:cNvSpPr/>
          <p:nvPr/>
        </p:nvSpPr>
        <p:spPr>
          <a:xfrm>
            <a:off x="5303520" y="374904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46320" y="438912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Exécuter une action : appel d'outil, code, recherche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1371600" y="3749040"/>
            <a:ext cx="1645920" cy="594360"/>
          </a:xfrm>
          <a:prstGeom prst="ellipse">
            <a:avLst/>
          </a:prstGeom>
          <a:solidFill>
            <a:srgbClr val="FF8F00"/>
          </a:solidFill>
          <a:ln/>
        </p:spPr>
      </p:sp>
      <p:sp>
        <p:nvSpPr>
          <p:cNvPr id="16" name="Text 14"/>
          <p:cNvSpPr/>
          <p:nvPr/>
        </p:nvSpPr>
        <p:spPr>
          <a:xfrm>
            <a:off x="1371600" y="374904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14400" y="438912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Analyser le résultat et décider de la prochaine étape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Patterns Multi-Agents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804672"/>
            <a:ext cx="8412480" cy="36576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4" name="Shape 2"/>
          <p:cNvSpPr/>
          <p:nvPr/>
        </p:nvSpPr>
        <p:spPr>
          <a:xfrm>
            <a:off x="228600" y="1005840"/>
            <a:ext cx="201168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1005840"/>
            <a:ext cx="2011680" cy="6400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6" name="Text 4"/>
          <p:cNvSpPr/>
          <p:nvPr/>
        </p:nvSpPr>
        <p:spPr>
          <a:xfrm>
            <a:off x="228600" y="114300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228600" y="173736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20040" y="2212848"/>
            <a:ext cx="1828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agent central coordonne d'autres agents spécialisés. Idéal pour des tâches complexes décomposables.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404872" y="1005840"/>
            <a:ext cx="201168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404872" y="1005840"/>
            <a:ext cx="2011680" cy="64008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11" name="Text 9"/>
          <p:cNvSpPr/>
          <p:nvPr/>
        </p:nvSpPr>
        <p:spPr>
          <a:xfrm>
            <a:off x="2404872" y="114300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2404872" y="173736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496312" y="2212848"/>
            <a:ext cx="1828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en séquence : chaque sortie devient l'entrée du suivant. Parfait pour les workflows ETL.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81144" y="1005840"/>
            <a:ext cx="201168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81144" y="1005840"/>
            <a:ext cx="2011680" cy="64008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16" name="Text 14"/>
          <p:cNvSpPr/>
          <p:nvPr/>
        </p:nvSpPr>
        <p:spPr>
          <a:xfrm>
            <a:off x="4581144" y="114300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4581144" y="173736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Parallélisme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672584" y="2212848"/>
            <a:ext cx="1828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Plusieurs agents travaillent simultanément sur des sous-tâches indépendantes. Accélère le traitement.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757416" y="1005840"/>
            <a:ext cx="201168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757416" y="1005840"/>
            <a:ext cx="2011680" cy="64008"/>
          </a:xfrm>
          <a:prstGeom prst="rect">
            <a:avLst/>
          </a:prstGeom>
          <a:solidFill>
            <a:srgbClr val="FF8F00"/>
          </a:solidFill>
          <a:ln/>
        </p:spPr>
      </p:sp>
      <p:sp>
        <p:nvSpPr>
          <p:cNvPr id="21" name="Text 19"/>
          <p:cNvSpPr/>
          <p:nvPr/>
        </p:nvSpPr>
        <p:spPr>
          <a:xfrm>
            <a:off x="6757416" y="114300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6757416" y="173736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8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848856" y="2212848"/>
            <a:ext cx="1828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L'humain valide les étapes critiques. Réduit les risques sur les actions irréversibles.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Frameworks Agentiques populaires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804672"/>
            <a:ext cx="8412480" cy="36576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005840"/>
            <a:ext cx="41148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05840"/>
            <a:ext cx="73152" cy="1828800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6" name="Text 4"/>
          <p:cNvSpPr/>
          <p:nvPr/>
        </p:nvSpPr>
        <p:spPr>
          <a:xfrm>
            <a:off x="438912" y="10789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560320" y="10972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/ JS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38912" y="1481328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plus répandu. Chaîne de LLMs, outils, mémoire. Idéal pour prototyper rapidement.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38912" y="20116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Vaste écosystème, docs riches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38912" y="23317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8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Peut être complexe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663440" y="1005840"/>
            <a:ext cx="41148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1005840"/>
            <a:ext cx="73152" cy="182880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3" name="Text 11"/>
          <p:cNvSpPr/>
          <p:nvPr/>
        </p:nvSpPr>
        <p:spPr>
          <a:xfrm>
            <a:off x="4828032" y="10789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CrewAI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949440" y="10972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828032" y="1481328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en équipe avec rôles définis. Parfait pour des workflows collaboratifs.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28032" y="20116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Simple, intuitif, orienté équipe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828032" y="23317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8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Moins flexible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74320" y="3017520"/>
            <a:ext cx="41148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3017520"/>
            <a:ext cx="73152" cy="1828800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20" name="Text 18"/>
          <p:cNvSpPr/>
          <p:nvPr/>
        </p:nvSpPr>
        <p:spPr>
          <a:xfrm>
            <a:off x="438912" y="309067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AutoGen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2560320" y="31089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38912" y="3493008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Research. Conversations multi-agents autonomes avec correction automatique.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38912" y="40233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Puissant, code auto-correctif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38912" y="43434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8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Courbe d'apprentissage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663440" y="3017520"/>
            <a:ext cx="41148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63440" y="3017520"/>
            <a:ext cx="73152" cy="1828800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27" name="Text 25"/>
          <p:cNvSpPr/>
          <p:nvPr/>
        </p:nvSpPr>
        <p:spPr>
          <a:xfrm>
            <a:off x="4828032" y="309067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949440" y="31089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 / API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828032" y="3493008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de coding d'Anthropic, intégré terminal. Accès fichiers, git, commandes système.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828032" y="40233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Sécurisé, IDE-natif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828032" y="43434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8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Anthropic uniquement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645920"/>
            <a:ext cx="84124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03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Outils IA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développeurs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365760" y="3383280"/>
            <a:ext cx="1828800" cy="64008"/>
          </a:xfrm>
          <a:prstGeom prst="rect">
            <a:avLst/>
          </a:prstGeom>
          <a:solidFill>
            <a:srgbClr val="00BCD4"/>
          </a:solidFill>
          <a:ln/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Panorama des outils IA pour dev (2025)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804672"/>
            <a:ext cx="8412480" cy="36576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960120"/>
            <a:ext cx="859536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60120"/>
            <a:ext cx="73152" cy="6858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6" name="Text 4"/>
          <p:cNvSpPr/>
          <p:nvPr/>
        </p:nvSpPr>
        <p:spPr>
          <a:xfrm>
            <a:off x="438912" y="105156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38912" y="1325880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Microsoft/OpenAI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148840" y="1097280"/>
            <a:ext cx="1005840" cy="292608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9" name="Text 7"/>
          <p:cNvSpPr/>
          <p:nvPr/>
        </p:nvSpPr>
        <p:spPr>
          <a:xfrm>
            <a:off x="2148840" y="109728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 Plugin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337560" y="1069848"/>
            <a:ext cx="4206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Autocomplétion intelligente dans VS Code, IntelliJ. Génère du code ligne par ligne.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680960" y="1124712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8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★★★★☆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1755648"/>
            <a:ext cx="8595360" cy="685800"/>
          </a:xfrm>
          <a:prstGeom prst="rect">
            <a:avLst/>
          </a:prstGeom>
          <a:solidFill>
            <a:srgbClr val="F8FB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1755648"/>
            <a:ext cx="73152" cy="68580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4" name="Text 12"/>
          <p:cNvSpPr/>
          <p:nvPr/>
        </p:nvSpPr>
        <p:spPr>
          <a:xfrm>
            <a:off x="438912" y="184708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38912" y="2121408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Cursor Inc.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148840" y="1892808"/>
            <a:ext cx="1005840" cy="29260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7" name="Text 15"/>
          <p:cNvSpPr/>
          <p:nvPr/>
        </p:nvSpPr>
        <p:spPr>
          <a:xfrm>
            <a:off x="2148840" y="1892808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 complet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337560" y="1865376"/>
            <a:ext cx="4206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Fork de VS Code avec IA intégrée. Chat, édition multi-fichiers, contexte projet.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680960" y="192024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8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★★★★★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74320" y="2551176"/>
            <a:ext cx="859536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2551176"/>
            <a:ext cx="73152" cy="685800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22" name="Text 20"/>
          <p:cNvSpPr/>
          <p:nvPr/>
        </p:nvSpPr>
        <p:spPr>
          <a:xfrm>
            <a:off x="438912" y="2642616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38912" y="2916936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148840" y="2688336"/>
            <a:ext cx="1005840" cy="292608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25" name="Text 23"/>
          <p:cNvSpPr/>
          <p:nvPr/>
        </p:nvSpPr>
        <p:spPr>
          <a:xfrm>
            <a:off x="2148840" y="2688336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CLI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337560" y="2660904"/>
            <a:ext cx="4206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autonome en terminal. Lit, écrit, exécute, git. Comprend tout le projet.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680960" y="2715768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8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★★★★★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274320" y="3346704"/>
            <a:ext cx="8595360" cy="685800"/>
          </a:xfrm>
          <a:prstGeom prst="rect">
            <a:avLst/>
          </a:prstGeom>
          <a:solidFill>
            <a:srgbClr val="F8FB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274320" y="3346704"/>
            <a:ext cx="73152" cy="685800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30" name="Text 28"/>
          <p:cNvSpPr/>
          <p:nvPr/>
        </p:nvSpPr>
        <p:spPr>
          <a:xfrm>
            <a:off x="438912" y="3438144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Aider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38912" y="3712464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2148840" y="3483864"/>
            <a:ext cx="1005840" cy="292608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33" name="Text 31"/>
          <p:cNvSpPr/>
          <p:nvPr/>
        </p:nvSpPr>
        <p:spPr>
          <a:xfrm>
            <a:off x="2148840" y="3483864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 Agent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3337560" y="3456432"/>
            <a:ext cx="4206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de coding en ligne de commande. Intégration git automatique.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680960" y="3511296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8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★★★☆☆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274320" y="4142232"/>
            <a:ext cx="859536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274320" y="4142232"/>
            <a:ext cx="73152" cy="685800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38" name="Text 36"/>
          <p:cNvSpPr/>
          <p:nvPr/>
        </p:nvSpPr>
        <p:spPr>
          <a:xfrm>
            <a:off x="438912" y="423367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Windsurf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438912" y="4507992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Codeium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2148840" y="4279392"/>
            <a:ext cx="1005840" cy="292608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41" name="Text 39"/>
          <p:cNvSpPr/>
          <p:nvPr/>
        </p:nvSpPr>
        <p:spPr>
          <a:xfrm>
            <a:off x="2148840" y="427939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 complet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3337560" y="4251960"/>
            <a:ext cx="4206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 IA avec Cascade (agent). Concurrent direct de Cursor.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7680960" y="4306824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8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★★★★☆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— Les 5 composantes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804672"/>
            <a:ext cx="8412480" cy="36576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069848"/>
            <a:ext cx="502920" cy="502920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10698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10058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RÔLE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13258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Définit le persona et le niveau d'expertise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0" y="1051560"/>
            <a:ext cx="5577840" cy="530352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9" name="Text 7"/>
          <p:cNvSpPr/>
          <p:nvPr/>
        </p:nvSpPr>
        <p:spPr>
          <a:xfrm>
            <a:off x="3337560" y="1051560"/>
            <a:ext cx="5394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A16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"Tu es un senior dev Python expert en performance."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1874520"/>
            <a:ext cx="502920" cy="502920"/>
          </a:xfrm>
          <a:prstGeom prst="ellipse">
            <a:avLst/>
          </a:prstGeom>
          <a:solidFill>
            <a:srgbClr val="6A1B9A"/>
          </a:solidFill>
          <a:ln/>
        </p:spPr>
      </p:sp>
      <p:sp>
        <p:nvSpPr>
          <p:cNvPr id="11" name="Text 9"/>
          <p:cNvSpPr/>
          <p:nvPr/>
        </p:nvSpPr>
        <p:spPr>
          <a:xfrm>
            <a:off x="274320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14400" y="181051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14400" y="213055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Donne le cadre du projet et les contraintes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0" y="1856232"/>
            <a:ext cx="5577840" cy="530352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15" name="Text 13"/>
          <p:cNvSpPr/>
          <p:nvPr/>
        </p:nvSpPr>
        <p:spPr>
          <a:xfrm>
            <a:off x="3337560" y="1856232"/>
            <a:ext cx="5394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A16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"Je travaille sur une API Flask avec 10k req/s."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2679192"/>
            <a:ext cx="502920" cy="502920"/>
          </a:xfrm>
          <a:prstGeom prst="ellipse">
            <a:avLst/>
          </a:prstGeom>
          <a:solidFill>
            <a:srgbClr val="00897B"/>
          </a:solidFill>
          <a:ln/>
        </p:spPr>
      </p:sp>
      <p:sp>
        <p:nvSpPr>
          <p:cNvPr id="17" name="Text 15"/>
          <p:cNvSpPr/>
          <p:nvPr/>
        </p:nvSpPr>
        <p:spPr>
          <a:xfrm>
            <a:off x="274320" y="26791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14400" y="2615184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TÂCHE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14400" y="293522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L'action précise à réaliser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0" y="2660904"/>
            <a:ext cx="5577840" cy="530352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21" name="Text 19"/>
          <p:cNvSpPr/>
          <p:nvPr/>
        </p:nvSpPr>
        <p:spPr>
          <a:xfrm>
            <a:off x="3337560" y="2660904"/>
            <a:ext cx="5394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A16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"Optimise cette fonction pour réduire la latence."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74320" y="3483864"/>
            <a:ext cx="502920" cy="502920"/>
          </a:xfrm>
          <a:prstGeom prst="ellipse">
            <a:avLst/>
          </a:prstGeom>
          <a:solidFill>
            <a:srgbClr val="FF8F00"/>
          </a:solidFill>
          <a:ln/>
        </p:spPr>
      </p:sp>
      <p:sp>
        <p:nvSpPr>
          <p:cNvPr id="23" name="Text 21"/>
          <p:cNvSpPr/>
          <p:nvPr/>
        </p:nvSpPr>
        <p:spPr>
          <a:xfrm>
            <a:off x="274320" y="348386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14400" y="3419856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8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14400" y="373989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et format de la réponse attendue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200400" y="3465576"/>
            <a:ext cx="5577840" cy="530352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27" name="Text 25"/>
          <p:cNvSpPr/>
          <p:nvPr/>
        </p:nvSpPr>
        <p:spPr>
          <a:xfrm>
            <a:off x="3337560" y="3465576"/>
            <a:ext cx="5394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A16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"Réponds en JSON avec: code, explication, tests."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74320" y="4288536"/>
            <a:ext cx="502920" cy="502920"/>
          </a:xfrm>
          <a:prstGeom prst="ellipse">
            <a:avLst/>
          </a:prstGeom>
          <a:solidFill>
            <a:srgbClr val="C62828"/>
          </a:solidFill>
          <a:ln/>
        </p:spPr>
      </p:sp>
      <p:sp>
        <p:nvSpPr>
          <p:cNvPr id="29" name="Text 27"/>
          <p:cNvSpPr/>
          <p:nvPr/>
        </p:nvSpPr>
        <p:spPr>
          <a:xfrm>
            <a:off x="274320" y="428853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914400" y="422452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CONTRAINTES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914400" y="454456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Limites, règles, restrictions à respecter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200400" y="4270248"/>
            <a:ext cx="5577840" cy="530352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3" name="Text 31"/>
          <p:cNvSpPr/>
          <p:nvPr/>
        </p:nvSpPr>
        <p:spPr>
          <a:xfrm>
            <a:off x="3337560" y="4270248"/>
            <a:ext cx="5394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A16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"Sans bibliothèques externes, compatible Python 3.9."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Patterns de prompts pour le code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804672"/>
            <a:ext cx="8412480" cy="36576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4" name="Shape 2"/>
          <p:cNvSpPr/>
          <p:nvPr/>
        </p:nvSpPr>
        <p:spPr>
          <a:xfrm>
            <a:off x="228600" y="960120"/>
            <a:ext cx="411480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960120"/>
            <a:ext cx="4114800" cy="6400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05156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Zero-Shot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65760" y="14173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 exemple fourni. Demande directe.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170992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Tâches simples, bien définies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2011680"/>
            <a:ext cx="3840480" cy="64008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01168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A16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"Génère une fonction Python qui trie une liste par date."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17720" y="960120"/>
            <a:ext cx="411480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17720" y="960120"/>
            <a:ext cx="4114800" cy="64008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13" name="Text 11"/>
          <p:cNvSpPr/>
          <p:nvPr/>
        </p:nvSpPr>
        <p:spPr>
          <a:xfrm>
            <a:off x="4754880" y="105156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Few-Shot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754880" y="14173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2-3 exemples input→output avant la demande.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754880" y="170992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Tâches avec format précis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54880" y="2011680"/>
            <a:ext cx="3840480" cy="64008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17" name="Text 15"/>
          <p:cNvSpPr/>
          <p:nvPr/>
        </p:nvSpPr>
        <p:spPr>
          <a:xfrm>
            <a:off x="4846320" y="201168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A16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"Voici 2 exemples. Maintenant génère pour ce cas : …"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28600" y="3017520"/>
            <a:ext cx="411480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28600" y="3017520"/>
            <a:ext cx="4114800" cy="64008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" y="310896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of Thought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365760" y="34747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Demander de raisonner étape par étape.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65760" y="376732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Problèmes complexes, debug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65760" y="4069080"/>
            <a:ext cx="3840480" cy="64008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406908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A16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"Analyse ce bug étape par étape avant de proposer un fix."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617720" y="3017520"/>
            <a:ext cx="411480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17720" y="3017520"/>
            <a:ext cx="4114800" cy="64008"/>
          </a:xfrm>
          <a:prstGeom prst="rect">
            <a:avLst/>
          </a:prstGeom>
          <a:solidFill>
            <a:srgbClr val="FF8F00"/>
          </a:solidFill>
          <a:ln/>
        </p:spPr>
      </p:sp>
      <p:sp>
        <p:nvSpPr>
          <p:cNvPr id="27" name="Text 25"/>
          <p:cNvSpPr/>
          <p:nvPr/>
        </p:nvSpPr>
        <p:spPr>
          <a:xfrm>
            <a:off x="4754880" y="310896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8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Output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754880" y="34747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Forcer JSON, YAML, Markdown précis.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754880" y="376732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Intégration dans du code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754880" y="4069080"/>
            <a:ext cx="3840480" cy="64008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1" name="Text 29"/>
          <p:cNvSpPr/>
          <p:nvPr/>
        </p:nvSpPr>
        <p:spPr>
          <a:xfrm>
            <a:off x="4846320" y="406908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A16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"Réponds UNIQUEMENT en JSON valide: {code, tests, doc}"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645920"/>
            <a:ext cx="84124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04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Génération de code,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&amp; documentation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365760" y="3383280"/>
            <a:ext cx="1828800" cy="64008"/>
          </a:xfrm>
          <a:prstGeom prst="rect">
            <a:avLst/>
          </a:prstGeom>
          <a:solidFill>
            <a:srgbClr val="00BCD4"/>
          </a:solidFill>
          <a:ln/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 d'usage IA par profil développeur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804672"/>
            <a:ext cx="8412480" cy="36576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4" name="Shape 2"/>
          <p:cNvSpPr/>
          <p:nvPr/>
        </p:nvSpPr>
        <p:spPr>
          <a:xfrm>
            <a:off x="228600" y="960120"/>
            <a:ext cx="2788920" cy="3931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960120"/>
            <a:ext cx="2788920" cy="59436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96012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Backend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20040" y="1627632"/>
            <a:ext cx="260604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Générer des endpoints REST / GraphQL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Créer des migrations de base de données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Écrire des tests unitaires &amp; d'intégration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Documenter les APIs (OpenAPI/Swagger)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Optimiser des requêtes SQL complexes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154680" y="960120"/>
            <a:ext cx="2788920" cy="3931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154680" y="960120"/>
            <a:ext cx="2788920" cy="594360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10" name="Text 8"/>
          <p:cNvSpPr/>
          <p:nvPr/>
        </p:nvSpPr>
        <p:spPr>
          <a:xfrm>
            <a:off x="3246120" y="96012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🖥️ Frontend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246120" y="1627632"/>
            <a:ext cx="260604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Générer des composants React/Vue/Angular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Créer des hooks personnalisés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Écrire des tests E2E (Playwright, Cypress)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Générer du CSS / Tailwind responsive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Intégrer des APIs et gérer les états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080760" y="960120"/>
            <a:ext cx="2788920" cy="3931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080760" y="960120"/>
            <a:ext cx="2788920" cy="594360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14" name="Text 12"/>
          <p:cNvSpPr/>
          <p:nvPr/>
        </p:nvSpPr>
        <p:spPr>
          <a:xfrm>
            <a:off x="6172200" y="96012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Mobile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172200" y="1627632"/>
            <a:ext cx="260604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Générer des écrans React Native / Flutter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Créer des providers et services API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Écrire des tests unitaires de widgets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Optimiser les performances &amp; bundle size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Générer des icônes et assets</a:t>
            </a:r>
            <a:endParaRPr lang="en-US" sz="11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Automatiser la génération de tests avec l'IA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804672"/>
            <a:ext cx="8412480" cy="36576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4" name="Shape 2"/>
          <p:cNvSpPr/>
          <p:nvPr/>
        </p:nvSpPr>
        <p:spPr>
          <a:xfrm>
            <a:off x="228600" y="960120"/>
            <a:ext cx="416052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960120"/>
            <a:ext cx="4160520" cy="64008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0515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🧪 Tests Unitaires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154680" y="1069848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Jest / Pytest / JUnit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20040" y="141732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Tester chaque fonction isolément. L'IA génère les cas nominaux ET les edge cases.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1874520"/>
            <a:ext cx="3931920" cy="77724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10" name="Text 8"/>
          <p:cNvSpPr/>
          <p:nvPr/>
        </p:nvSpPr>
        <p:spPr>
          <a:xfrm>
            <a:off x="411480" y="1892808"/>
            <a:ext cx="3749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0A16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💬 "Génère des tests unitaires Jest pour cette fonction, incluant : cas nominal, valeurs nulles, limites."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617720" y="960120"/>
            <a:ext cx="416052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17720" y="960120"/>
            <a:ext cx="4160520" cy="6400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3" name="Text 11"/>
          <p:cNvSpPr/>
          <p:nvPr/>
        </p:nvSpPr>
        <p:spPr>
          <a:xfrm>
            <a:off x="4709160" y="10515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Tests Intégration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543800" y="1069848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Supertest / Testcontainers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709160" y="141732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Tester les interactions entre modules. L'IA génère les mocks et fixtures.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09160" y="1874520"/>
            <a:ext cx="3931920" cy="77724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17" name="Text 15"/>
          <p:cNvSpPr/>
          <p:nvPr/>
        </p:nvSpPr>
        <p:spPr>
          <a:xfrm>
            <a:off x="4800600" y="1892808"/>
            <a:ext cx="3749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0A16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💬 "Génère des tests d'intégration pour cet endpoint Express avec mock de la base de données."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28600" y="3063240"/>
            <a:ext cx="416052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28600" y="3063240"/>
            <a:ext cx="4160520" cy="64008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20" name="Text 18"/>
          <p:cNvSpPr/>
          <p:nvPr/>
        </p:nvSpPr>
        <p:spPr>
          <a:xfrm>
            <a:off x="320040" y="31546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🎭 Tests E2E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154680" y="3172968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 / Cypress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20040" y="352044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Tester le flux complet de l'application. L'IA génère les scénarios utilisateur.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20040" y="3977640"/>
            <a:ext cx="3931920" cy="77724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24" name="Text 22"/>
          <p:cNvSpPr/>
          <p:nvPr/>
        </p:nvSpPr>
        <p:spPr>
          <a:xfrm>
            <a:off x="411480" y="3995928"/>
            <a:ext cx="3749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0A16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💬 "Génère un test Playwright pour le parcours : login → achat → confirmation."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617720" y="3063240"/>
            <a:ext cx="416052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17720" y="3063240"/>
            <a:ext cx="4160520" cy="64008"/>
          </a:xfrm>
          <a:prstGeom prst="rect">
            <a:avLst/>
          </a:prstGeom>
          <a:solidFill>
            <a:srgbClr val="FF8F00"/>
          </a:solidFill>
          <a:ln/>
        </p:spPr>
      </p:sp>
      <p:sp>
        <p:nvSpPr>
          <p:cNvPr id="27" name="Text 25"/>
          <p:cNvSpPr/>
          <p:nvPr/>
        </p:nvSpPr>
        <p:spPr>
          <a:xfrm>
            <a:off x="4709160" y="31546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8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🎲 Tests Property-based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543800" y="3172968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fast-check / Hypothesis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709160" y="352044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Générer des milliers de cas de test automatiquement. L'IA définit les propriétés.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709160" y="3977640"/>
            <a:ext cx="3931920" cy="77724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1" name="Text 29"/>
          <p:cNvSpPr/>
          <p:nvPr/>
        </p:nvSpPr>
        <p:spPr>
          <a:xfrm>
            <a:off x="4800600" y="3995928"/>
            <a:ext cx="3749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0A16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💬 "Génère des tests property-based pour vérifier l'invariance de cette fonction de tri."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automatique avec l'IA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804672"/>
            <a:ext cx="8412480" cy="36576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4" name="Shape 2"/>
          <p:cNvSpPr/>
          <p:nvPr/>
        </p:nvSpPr>
        <p:spPr>
          <a:xfrm>
            <a:off x="228600" y="1005840"/>
            <a:ext cx="278892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1005840"/>
            <a:ext cx="2788920" cy="6400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6" name="Text 4"/>
          <p:cNvSpPr/>
          <p:nvPr/>
        </p:nvSpPr>
        <p:spPr>
          <a:xfrm>
            <a:off x="228600" y="109728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68680" y="1170432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JSDoc / Docstrings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0040" y="1627632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Commentaires de code auto-générés avec types, paramètres et exemples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154680" y="1005840"/>
            <a:ext cx="278892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154680" y="1005840"/>
            <a:ext cx="2788920" cy="64008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11" name="Text 9"/>
          <p:cNvSpPr/>
          <p:nvPr/>
        </p:nvSpPr>
        <p:spPr>
          <a:xfrm>
            <a:off x="3154680" y="109728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794760" y="1170432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46120" y="1627632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de projet complète : installation, usage, contribution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80760" y="1005840"/>
            <a:ext cx="278892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80760" y="1005840"/>
            <a:ext cx="2788920" cy="64008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16" name="Text 14"/>
          <p:cNvSpPr/>
          <p:nvPr/>
        </p:nvSpPr>
        <p:spPr>
          <a:xfrm>
            <a:off x="6080760" y="109728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🔌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720840" y="1170432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OpenAPI / Swagger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172200" y="1627632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 d'API REST complète générée depuis le code ou les routes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28600" y="2971800"/>
            <a:ext cx="278892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28600" y="2971800"/>
            <a:ext cx="2788920" cy="64008"/>
          </a:xfrm>
          <a:prstGeom prst="rect">
            <a:avLst/>
          </a:prstGeom>
          <a:solidFill>
            <a:srgbClr val="FF8F00"/>
          </a:solidFill>
          <a:ln/>
        </p:spPr>
      </p:sp>
      <p:sp>
        <p:nvSpPr>
          <p:cNvPr id="21" name="Text 19"/>
          <p:cNvSpPr/>
          <p:nvPr/>
        </p:nvSpPr>
        <p:spPr>
          <a:xfrm>
            <a:off x="228600" y="306324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🏗️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868680" y="3136392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8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20040" y="3593592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Decision Records — documente les choix techniques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154680" y="2971800"/>
            <a:ext cx="278892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154680" y="2971800"/>
            <a:ext cx="2788920" cy="64008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26" name="Text 24"/>
          <p:cNvSpPr/>
          <p:nvPr/>
        </p:nvSpPr>
        <p:spPr>
          <a:xfrm>
            <a:off x="3154680" y="306324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3794760" y="3136392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Changelog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246120" y="3593592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Génération automatique depuis les commits git (conventional commits)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080760" y="2971800"/>
            <a:ext cx="278892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080760" y="2971800"/>
            <a:ext cx="2788920" cy="64008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31" name="Text 29"/>
          <p:cNvSpPr/>
          <p:nvPr/>
        </p:nvSpPr>
        <p:spPr>
          <a:xfrm>
            <a:off x="6080760" y="306324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6720840" y="3136392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Diagrammes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172200" y="3593592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Génération de diagrammes Mermaid, PlantUML depuis le code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274320" y="470916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Gain de temps moyen : 80% sur la documentation technique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TDD Assisté par IA — Workflow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804672"/>
            <a:ext cx="8412480" cy="36576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4" name="Shape 2"/>
          <p:cNvSpPr/>
          <p:nvPr/>
        </p:nvSpPr>
        <p:spPr>
          <a:xfrm>
            <a:off x="228600" y="1051560"/>
            <a:ext cx="548640" cy="548640"/>
          </a:xfrm>
          <a:prstGeom prst="ellipse">
            <a:avLst/>
          </a:prstGeom>
          <a:solidFill>
            <a:srgbClr val="C62828"/>
          </a:solidFill>
          <a:ln/>
        </p:spPr>
      </p:sp>
      <p:sp>
        <p:nvSpPr>
          <p:cNvPr id="5" name="Text 3"/>
          <p:cNvSpPr/>
          <p:nvPr/>
        </p:nvSpPr>
        <p:spPr>
          <a:xfrm>
            <a:off x="228600" y="1051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10515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— Écrire le test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13716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Demandez à l'IA de générer un test qui ÉCHOUE pour la fonctionnalité souhaitée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474720" y="1024128"/>
            <a:ext cx="5394960" cy="713232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9" name="Text 7"/>
          <p:cNvSpPr/>
          <p:nvPr/>
        </p:nvSpPr>
        <p:spPr>
          <a:xfrm>
            <a:off x="3566160" y="1051560"/>
            <a:ext cx="5212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A16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"Génère un test Jest pour une fonction validateEmail() qui n'existe pas encore."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02920" y="1618488"/>
            <a:ext cx="0" cy="347472"/>
          </a:xfrm>
          <a:prstGeom prst="line">
            <a:avLst/>
          </a:prstGeom>
          <a:noFill/>
          <a:ln w="25400">
            <a:solidFill>
              <a:srgbClr val="C6282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28600" y="2057400"/>
            <a:ext cx="548640" cy="548640"/>
          </a:xfrm>
          <a:prstGeom prst="ellipse">
            <a:avLst/>
          </a:prstGeom>
          <a:solidFill>
            <a:srgbClr val="00897B"/>
          </a:solidFill>
          <a:ln/>
        </p:spPr>
      </p:sp>
      <p:sp>
        <p:nvSpPr>
          <p:cNvPr id="12" name="Text 10"/>
          <p:cNvSpPr/>
          <p:nvPr/>
        </p:nvSpPr>
        <p:spPr>
          <a:xfrm>
            <a:off x="228600" y="2057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14400" y="20574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— Implémenter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14400" y="23774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L'IA génère le minimum de code pour faire passer le test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474720" y="2029968"/>
            <a:ext cx="5394960" cy="713232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16" name="Text 14"/>
          <p:cNvSpPr/>
          <p:nvPr/>
        </p:nvSpPr>
        <p:spPr>
          <a:xfrm>
            <a:off x="3566160" y="2057400"/>
            <a:ext cx="5212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A16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"Implémente validateEmail() pour que ce test passe, avec le minimum de code nécessaire."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02920" y="2624328"/>
            <a:ext cx="0" cy="347472"/>
          </a:xfrm>
          <a:prstGeom prst="line">
            <a:avLst/>
          </a:prstGeom>
          <a:noFill/>
          <a:ln w="25400">
            <a:solidFill>
              <a:srgbClr val="00897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8600" y="3063240"/>
            <a:ext cx="548640" cy="548640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19" name="Text 17"/>
          <p:cNvSpPr/>
          <p:nvPr/>
        </p:nvSpPr>
        <p:spPr>
          <a:xfrm>
            <a:off x="228600" y="3063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14400" y="30632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REFACTOR — Améliorer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14400" y="33832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L'IA refactorise sans casser les tests existants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474720" y="3035808"/>
            <a:ext cx="5394960" cy="713232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23" name="Text 21"/>
          <p:cNvSpPr/>
          <p:nvPr/>
        </p:nvSpPr>
        <p:spPr>
          <a:xfrm>
            <a:off x="3566160" y="3063240"/>
            <a:ext cx="5212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A16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"Refactorise validateEmail() pour la rendre plus maintenable, sans modifier les tests."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02920" y="3630168"/>
            <a:ext cx="0" cy="347472"/>
          </a:xfrm>
          <a:prstGeom prst="line">
            <a:avLst/>
          </a:prstGeom>
          <a:noFill/>
          <a:ln w="25400">
            <a:solidFill>
              <a:srgbClr val="1565C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28600" y="4069080"/>
            <a:ext cx="548640" cy="548640"/>
          </a:xfrm>
          <a:prstGeom prst="ellipse">
            <a:avLst/>
          </a:prstGeom>
          <a:solidFill>
            <a:srgbClr val="6A1B9A"/>
          </a:solidFill>
          <a:ln/>
        </p:spPr>
      </p:sp>
      <p:sp>
        <p:nvSpPr>
          <p:cNvPr id="26" name="Text 24"/>
          <p:cNvSpPr/>
          <p:nvPr/>
        </p:nvSpPr>
        <p:spPr>
          <a:xfrm>
            <a:off x="228600" y="4069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914400" y="40690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— Itérer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14400" y="43891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Répétez le cycle pour chaque nouveau comportement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474720" y="4041648"/>
            <a:ext cx="5394960" cy="713232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0" name="Text 28"/>
          <p:cNvSpPr/>
          <p:nvPr/>
        </p:nvSpPr>
        <p:spPr>
          <a:xfrm>
            <a:off x="3566160" y="4069080"/>
            <a:ext cx="5212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A16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"Ajoute le support des adresses avec sous-domaines et génère les tests correspondants."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645920"/>
            <a:ext cx="84124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05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Automatisation :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Debug, Refactoring &amp; CI/CD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365760" y="3383280"/>
            <a:ext cx="1828800" cy="64008"/>
          </a:xfrm>
          <a:prstGeom prst="rect">
            <a:avLst/>
          </a:prstGeom>
          <a:solidFill>
            <a:srgbClr val="00BCD4"/>
          </a:solidFill>
          <a:ln/>
        </p:spPr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Protocole de debug avec l'IA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804672"/>
            <a:ext cx="8412480" cy="36576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005840"/>
            <a:ext cx="457200" cy="457200"/>
          </a:xfrm>
          <a:prstGeom prst="ellipse">
            <a:avLst/>
          </a:prstGeom>
          <a:solidFill>
            <a:srgbClr val="C62828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1005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10058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Fournir la stack trace complète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125272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jamais copier qu'un extrait — l'IA a besoin du contexte complet pour identifier la cause racine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1783080"/>
            <a:ext cx="457200" cy="457200"/>
          </a:xfrm>
          <a:prstGeom prst="ellipse">
            <a:avLst/>
          </a:prstGeom>
          <a:solidFill>
            <a:srgbClr val="FF8F00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178308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Donner le contexte d'exécution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22960" y="20299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Environnement, version des libs, OS, données d'entrée qui déclenchent le bug, comportement attendu vs observé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2560320"/>
            <a:ext cx="457200" cy="457200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13" name="Text 11"/>
          <p:cNvSpPr/>
          <p:nvPr/>
        </p:nvSpPr>
        <p:spPr>
          <a:xfrm>
            <a:off x="274320" y="2560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22960" y="25603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Demander des hypothèses, pas une solution directe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22960" y="280720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: "Liste 3-5 causes possibles pour ce bug, explique pourquoi chacune pourrait en être la source"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3337560"/>
            <a:ext cx="457200" cy="457200"/>
          </a:xfrm>
          <a:prstGeom prst="ellipse">
            <a:avLst/>
          </a:prstGeom>
          <a:solidFill>
            <a:srgbClr val="00897B"/>
          </a:solidFill>
          <a:ln/>
        </p:spPr>
      </p:sp>
      <p:sp>
        <p:nvSpPr>
          <p:cNvPr id="17" name="Text 15"/>
          <p:cNvSpPr/>
          <p:nvPr/>
        </p:nvSpPr>
        <p:spPr>
          <a:xfrm>
            <a:off x="274320" y="3337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22960" y="33375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Valider et tester chaque hypothèse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22960" y="358444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: "Pour chaque hypothèse, propose un test minimal pour la confirmer ou l'infirmer"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" y="4114800"/>
            <a:ext cx="457200" cy="457200"/>
          </a:xfrm>
          <a:prstGeom prst="ellipse">
            <a:avLst/>
          </a:prstGeom>
          <a:solidFill>
            <a:srgbClr val="6A1B9A"/>
          </a:solidFill>
          <a:ln/>
        </p:spPr>
      </p:sp>
      <p:sp>
        <p:nvSpPr>
          <p:cNvPr id="21" name="Text 19"/>
          <p:cNvSpPr/>
          <p:nvPr/>
        </p:nvSpPr>
        <p:spPr>
          <a:xfrm>
            <a:off x="274320" y="4114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22960" y="411480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Appliquer le fix avec vérification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22960" y="436168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: "Applique le fix pour l'hypothèse X et génère un test de non-régression"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de refactoring avec l'IA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804672"/>
            <a:ext cx="8412480" cy="36576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4" name="Shape 2"/>
          <p:cNvSpPr/>
          <p:nvPr/>
        </p:nvSpPr>
        <p:spPr>
          <a:xfrm>
            <a:off x="228600" y="1005840"/>
            <a:ext cx="278892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1005840"/>
            <a:ext cx="2788920" cy="6400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115568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Nommage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20040" y="1536192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Renommer variables, fonctions, classes pour améliorer la lisibilité. L'IA propose des noms sémantiques.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154680" y="1005840"/>
            <a:ext cx="278892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154680" y="1005840"/>
            <a:ext cx="2788920" cy="64008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10" name="Text 8"/>
          <p:cNvSpPr/>
          <p:nvPr/>
        </p:nvSpPr>
        <p:spPr>
          <a:xfrm>
            <a:off x="3246120" y="1115568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✂️ Extraction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246120" y="1536192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Extraire du code dupliqué en fonctions réutilisables. Principe DRY.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80760" y="1005840"/>
            <a:ext cx="278892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080760" y="1005840"/>
            <a:ext cx="2788920" cy="64008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14" name="Text 12"/>
          <p:cNvSpPr/>
          <p:nvPr/>
        </p:nvSpPr>
        <p:spPr>
          <a:xfrm>
            <a:off x="6172200" y="1115568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Simplification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172200" y="1536192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Réduire la complexité cyclomatique. Transformer des nested if en early returns.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8600" y="2971800"/>
            <a:ext cx="278892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28600" y="2971800"/>
            <a:ext cx="2788920" cy="64008"/>
          </a:xfrm>
          <a:prstGeom prst="rect">
            <a:avLst/>
          </a:prstGeom>
          <a:solidFill>
            <a:srgbClr val="FF8F00"/>
          </a:solidFill>
          <a:ln/>
        </p:spPr>
      </p:sp>
      <p:sp>
        <p:nvSpPr>
          <p:cNvPr id="18" name="Text 16"/>
          <p:cNvSpPr/>
          <p:nvPr/>
        </p:nvSpPr>
        <p:spPr>
          <a:xfrm>
            <a:off x="320040" y="3081528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8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🏗️ Patterns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20040" y="3502152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Appliquer des design patterns (Factory, Strategy, Observer). L'IA explique pourquoi et comment.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154680" y="2971800"/>
            <a:ext cx="278892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154680" y="2971800"/>
            <a:ext cx="2788920" cy="64008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22" name="Text 20"/>
          <p:cNvSpPr/>
          <p:nvPr/>
        </p:nvSpPr>
        <p:spPr>
          <a:xfrm>
            <a:off x="3246120" y="3081528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📐 Types &amp; Interfaces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246120" y="3502152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Ajouter TypeScript, améliorer les types, créer des interfaces claires.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080760" y="2971800"/>
            <a:ext cx="278892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080760" y="2971800"/>
            <a:ext cx="2788920" cy="64008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26" name="Text 24"/>
          <p:cNvSpPr/>
          <p:nvPr/>
        </p:nvSpPr>
        <p:spPr>
          <a:xfrm>
            <a:off x="6172200" y="3081528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Legacy → Modern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172200" y="3502152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Migrer Callbacks → Promises → Async/Await. Class components → Hooks. Moderniser la base de code.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Intégrer l'IA dans les pipelines CI/CD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804672"/>
            <a:ext cx="8412480" cy="36576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051560"/>
            <a:ext cx="1280160" cy="1188720"/>
          </a:xfrm>
          <a:prstGeom prst="rect">
            <a:avLst/>
          </a:prstGeom>
          <a:solidFill>
            <a:srgbClr val="1565C0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1078992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📤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274320" y="1572768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572768" y="1645920"/>
            <a:ext cx="164592" cy="0"/>
          </a:xfrm>
          <a:prstGeom prst="line">
            <a:avLst/>
          </a:prstGeom>
          <a:noFill/>
          <a:ln w="25400">
            <a:solidFill>
              <a:srgbClr val="546E7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737360" y="1051560"/>
            <a:ext cx="1280160" cy="1188720"/>
          </a:xfrm>
          <a:prstGeom prst="rect">
            <a:avLst/>
          </a:prstGeom>
          <a:solidFill>
            <a:srgbClr val="6A1B9A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737360" y="1078992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737360" y="1572768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Review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035808" y="1645920"/>
            <a:ext cx="164592" cy="0"/>
          </a:xfrm>
          <a:prstGeom prst="line">
            <a:avLst/>
          </a:prstGeom>
          <a:noFill/>
          <a:ln w="25400">
            <a:solidFill>
              <a:srgbClr val="546E7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0" y="1051560"/>
            <a:ext cx="1280160" cy="1188720"/>
          </a:xfrm>
          <a:prstGeom prst="rect">
            <a:avLst/>
          </a:prstGeom>
          <a:solidFill>
            <a:srgbClr val="00897B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200400" y="1078992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🧪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3200400" y="1572768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498848" y="1645920"/>
            <a:ext cx="164592" cy="0"/>
          </a:xfrm>
          <a:prstGeom prst="line">
            <a:avLst/>
          </a:prstGeom>
          <a:noFill/>
          <a:ln w="25400">
            <a:solidFill>
              <a:srgbClr val="546E7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63440" y="1051560"/>
            <a:ext cx="1280160" cy="1188720"/>
          </a:xfrm>
          <a:prstGeom prst="rect">
            <a:avLst/>
          </a:prstGeom>
          <a:solidFill>
            <a:srgbClr val="FF8F00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663440" y="1078992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4663440" y="1572768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961888" y="1645920"/>
            <a:ext cx="164592" cy="0"/>
          </a:xfrm>
          <a:prstGeom prst="line">
            <a:avLst/>
          </a:prstGeom>
          <a:noFill/>
          <a:ln w="25400">
            <a:solidFill>
              <a:srgbClr val="546E7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26480" y="1051560"/>
            <a:ext cx="1280160" cy="1188720"/>
          </a:xfrm>
          <a:prstGeom prst="rect">
            <a:avLst/>
          </a:prstGeom>
          <a:solidFill>
            <a:srgbClr val="00BCD4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126480" y="1078992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6126480" y="1572768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424928" y="1645920"/>
            <a:ext cx="164592" cy="0"/>
          </a:xfrm>
          <a:prstGeom prst="line">
            <a:avLst/>
          </a:prstGeom>
          <a:noFill/>
          <a:ln w="25400">
            <a:solidFill>
              <a:srgbClr val="546E7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589520" y="1051560"/>
            <a:ext cx="1280160" cy="1188720"/>
          </a:xfrm>
          <a:prstGeom prst="rect">
            <a:avLst/>
          </a:prstGeom>
          <a:solidFill>
            <a:srgbClr val="C62828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589520" y="1078992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7589520" y="1572768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74320" y="2514600"/>
            <a:ext cx="2743200" cy="2331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258775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Code Review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65760" y="2971800"/>
            <a:ext cx="25603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automatique des PR : lisibilité, bugs potentiels, respect des conventions, suggestions.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65760" y="43434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🛠 Claude Code Action, GPT-4o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218688" y="2514600"/>
            <a:ext cx="2743200" cy="2331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310128" y="258775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Sécurité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3310128" y="2971800"/>
            <a:ext cx="25603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Détection de secrets exposés, vulnérabilités OWASP, dépendances obsolètes, injections SQL.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310128" y="43434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🛠 Snyk + LLM, Semgrep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163056" y="2514600"/>
            <a:ext cx="2743200" cy="2331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6254496" y="258775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Notes auto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254496" y="2971800"/>
            <a:ext cx="25603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Génération automatique du changelog depuis les commits conventionnels et les PR fusionnées.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254496" y="43434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🛠 GitHub Actions + Claude</a:t>
            </a:r>
            <a:endParaRPr lang="en-US" sz="9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+ Claude Code — Exemple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804672"/>
            <a:ext cx="8412480" cy="36576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960120"/>
            <a:ext cx="8595360" cy="3977640"/>
          </a:xfrm>
          <a:prstGeom prst="rect">
            <a:avLst/>
          </a:prstGeom>
          <a:solidFill>
            <a:srgbClr val="1E1E2E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05840"/>
            <a:ext cx="822960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name: AI Code Review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on: [pull_request]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jobs: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claude-review: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runs-on: ubuntu-latest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steps: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uses: actions/checkout@v4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name: Claude Code Review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uses: anthropics/claude-code-action@beta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with: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anthropic_api_key: ${{ secrets.ANTHROPIC_API_KEY }}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name: AI Security Audit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run: |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claude -p "Analyse ce diff pour des vulnérabilités \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OWASP, secrets exposés, injections SQL. \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Format: JSON avec severity, description, fix."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943600" y="123444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Déclenché sur chaque PR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943600" y="256032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8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Review automatique du diff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645920"/>
            <a:ext cx="84124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06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Bonnes pratiques,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limites &amp; perspectives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365760" y="3383280"/>
            <a:ext cx="1828800" cy="64008"/>
          </a:xfrm>
          <a:prstGeom prst="rect">
            <a:avLst/>
          </a:prstGeom>
          <a:solidFill>
            <a:srgbClr val="00BCD4"/>
          </a:solidFill>
          <a:ln/>
        </p:spPr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Limites fondamentales de l'IA — À connaître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804672"/>
            <a:ext cx="8412480" cy="36576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4" name="Shape 2"/>
          <p:cNvSpPr/>
          <p:nvPr/>
        </p:nvSpPr>
        <p:spPr>
          <a:xfrm>
            <a:off x="228600" y="960120"/>
            <a:ext cx="416052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960120"/>
            <a:ext cx="4160520" cy="64008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05156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👻 Hallucinations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20040" y="1435608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modèle peut inventer des APIs qui n'existent pas, des fonctions incorrectes, des références bibliographiques fausses.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0040" y="2130552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Toujours vérifier le code généré. Tester avant de déployer. Ne jamais faire confiance sans validation.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617720" y="960120"/>
            <a:ext cx="416052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17720" y="960120"/>
            <a:ext cx="4160520" cy="64008"/>
          </a:xfrm>
          <a:prstGeom prst="rect">
            <a:avLst/>
          </a:prstGeom>
          <a:solidFill>
            <a:srgbClr val="FF8F00"/>
          </a:solidFill>
          <a:ln/>
        </p:spPr>
      </p:sp>
      <p:sp>
        <p:nvSpPr>
          <p:cNvPr id="11" name="Text 9"/>
          <p:cNvSpPr/>
          <p:nvPr/>
        </p:nvSpPr>
        <p:spPr>
          <a:xfrm>
            <a:off x="4709160" y="105156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8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📏 Limite de contexte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709160" y="1435608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Au-delà de la fenêtre contextuelle, le modèle 'oublie' le début de la conversation et peut se contredire.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09160" y="2130552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Découper les gros projets. Toujours re-fournir le contexte nécessaire. Utiliser les embeddings.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28600" y="3063240"/>
            <a:ext cx="416052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28600" y="3063240"/>
            <a:ext cx="4160520" cy="64008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16" name="Text 14"/>
          <p:cNvSpPr/>
          <p:nvPr/>
        </p:nvSpPr>
        <p:spPr>
          <a:xfrm>
            <a:off x="320040" y="315468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🎲 Non-reproductibilité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20040" y="3538728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même requête peut produire des résultats différents selon la température et le sampling du modèle.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20040" y="4233672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Utiliser température=0 pour la prod. Mettre un seed si disponible. Tester plusieurs fois.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617720" y="3063240"/>
            <a:ext cx="416052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17720" y="3063240"/>
            <a:ext cx="4160520" cy="6400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21" name="Text 19"/>
          <p:cNvSpPr/>
          <p:nvPr/>
        </p:nvSpPr>
        <p:spPr>
          <a:xfrm>
            <a:off x="4709160" y="315468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Biais et obsolescence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709160" y="3538728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modèles ont une date de coupure de connaissance et peuvent refléter les biais de leurs données d'entraînement.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709160" y="4233672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Vérifier les librairies et versions. Toujours fournir la version dans le prompt. Consulter la doc officielle.</a:t>
            </a:r>
            <a:endParaRPr lang="en-US" sz="10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Sécurité, RGPD &amp; Propriété Intellectuelle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804672"/>
            <a:ext cx="8412480" cy="36576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987552"/>
            <a:ext cx="859536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87552"/>
            <a:ext cx="73152" cy="713232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987552"/>
            <a:ext cx="502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05840" y="107899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jamais partager de secrets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137160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keys, passwords, tokens dans les prompts → données envoyées au LLM externe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132320" y="1170432"/>
            <a:ext cx="1554480" cy="32004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10" name="Text 8"/>
          <p:cNvSpPr/>
          <p:nvPr/>
        </p:nvSpPr>
        <p:spPr>
          <a:xfrm>
            <a:off x="7132320" y="1170432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CRITIQUE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74320" y="1792224"/>
            <a:ext cx="859536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" y="1792224"/>
            <a:ext cx="73152" cy="713232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13" name="Text 11"/>
          <p:cNvSpPr/>
          <p:nvPr/>
        </p:nvSpPr>
        <p:spPr>
          <a:xfrm>
            <a:off x="411480" y="1792224"/>
            <a:ext cx="502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🏥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005840" y="1883664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personnelles (RGPD)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05840" y="217627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Aucune donnée PII (noms, emails, santé) dans Claude.ai ou GPT-4 sans accord DPA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132320" y="1975104"/>
            <a:ext cx="1554480" cy="32004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17" name="Text 15"/>
          <p:cNvSpPr/>
          <p:nvPr/>
        </p:nvSpPr>
        <p:spPr>
          <a:xfrm>
            <a:off x="7132320" y="1975104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CRITIQUE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74320" y="2596896"/>
            <a:ext cx="859536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2596896"/>
            <a:ext cx="73152" cy="713232"/>
          </a:xfrm>
          <a:prstGeom prst="rect">
            <a:avLst/>
          </a:prstGeom>
          <a:solidFill>
            <a:srgbClr val="FF8F00"/>
          </a:solidFill>
          <a:ln/>
        </p:spPr>
      </p:sp>
      <p:sp>
        <p:nvSpPr>
          <p:cNvPr id="20" name="Text 18"/>
          <p:cNvSpPr/>
          <p:nvPr/>
        </p:nvSpPr>
        <p:spPr>
          <a:xfrm>
            <a:off x="411480" y="2596896"/>
            <a:ext cx="502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🏢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005840" y="268833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propriétaire confidentiel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2980944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Vérifier la politique de l'éditeur. En cas de doute : LLM auto-hébergé (Llama, Mistral)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132320" y="2779776"/>
            <a:ext cx="1554480" cy="320040"/>
          </a:xfrm>
          <a:prstGeom prst="rect">
            <a:avLst/>
          </a:prstGeom>
          <a:solidFill>
            <a:srgbClr val="FF8F00"/>
          </a:solidFill>
          <a:ln/>
        </p:spPr>
      </p:sp>
      <p:sp>
        <p:nvSpPr>
          <p:cNvPr id="24" name="Text 22"/>
          <p:cNvSpPr/>
          <p:nvPr/>
        </p:nvSpPr>
        <p:spPr>
          <a:xfrm>
            <a:off x="7132320" y="2779776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74320" y="3401568"/>
            <a:ext cx="859536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74320" y="3401568"/>
            <a:ext cx="73152" cy="713232"/>
          </a:xfrm>
          <a:prstGeom prst="rect">
            <a:avLst/>
          </a:prstGeom>
          <a:solidFill>
            <a:srgbClr val="FF8F00"/>
          </a:solidFill>
          <a:ln/>
        </p:spPr>
      </p:sp>
      <p:sp>
        <p:nvSpPr>
          <p:cNvPr id="27" name="Text 25"/>
          <p:cNvSpPr/>
          <p:nvPr/>
        </p:nvSpPr>
        <p:spPr>
          <a:xfrm>
            <a:off x="411480" y="3401568"/>
            <a:ext cx="502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⚖️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1005840" y="349300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Propriété intellectuelle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005840" y="3785616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code généré peut ressembler à des œuvres sous licence. Toujours revoir et adapter.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7132320" y="3584448"/>
            <a:ext cx="1554480" cy="320040"/>
          </a:xfrm>
          <a:prstGeom prst="rect">
            <a:avLst/>
          </a:prstGeom>
          <a:solidFill>
            <a:srgbClr val="FF8F00"/>
          </a:solidFill>
          <a:ln/>
        </p:spPr>
      </p:sp>
      <p:sp>
        <p:nvSpPr>
          <p:cNvPr id="31" name="Text 29"/>
          <p:cNvSpPr/>
          <p:nvPr/>
        </p:nvSpPr>
        <p:spPr>
          <a:xfrm>
            <a:off x="7132320" y="358444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274320" y="4206240"/>
            <a:ext cx="8595360" cy="713232"/>
          </a:xfrm>
          <a:prstGeom prst="rect">
            <a:avLst/>
          </a:prstGeom>
          <a:solidFill>
            <a:srgbClr val="E3F2FD"/>
          </a:solidFill>
          <a:ln/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274320" y="4206240"/>
            <a:ext cx="73152" cy="713232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4" name="Text 32"/>
          <p:cNvSpPr/>
          <p:nvPr/>
        </p:nvSpPr>
        <p:spPr>
          <a:xfrm>
            <a:off x="411480" y="4206240"/>
            <a:ext cx="502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1005840" y="42976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Principe : Verify Don't Trust Blindly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1005840" y="459028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 code IA doit être relu, testé, validé par un humain avant mise en production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7132320" y="4389120"/>
            <a:ext cx="1554480" cy="32004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8" name="Text 36"/>
          <p:cNvSpPr/>
          <p:nvPr/>
        </p:nvSpPr>
        <p:spPr>
          <a:xfrm>
            <a:off x="7132320" y="43891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RÈGLE D'OR</a:t>
            </a:r>
            <a:endParaRPr lang="en-US" sz="9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Tendances 2025-2026 — Ce qui arrive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804672"/>
            <a:ext cx="8412480" cy="36576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4" name="Shape 2"/>
          <p:cNvSpPr/>
          <p:nvPr/>
        </p:nvSpPr>
        <p:spPr>
          <a:xfrm>
            <a:off x="228600" y="1005840"/>
            <a:ext cx="274320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1005840"/>
            <a:ext cx="2743200" cy="6400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6" name="Text 4"/>
          <p:cNvSpPr/>
          <p:nvPr/>
        </p:nvSpPr>
        <p:spPr>
          <a:xfrm>
            <a:off x="228600" y="1078992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👁️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22960" y="1115568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multi-modaux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0040" y="1572768"/>
            <a:ext cx="2560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agents peuvent voir, entendre, cliquer, naviguer. Interfaces graphiques pilotées par IA.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154680" y="1005840"/>
            <a:ext cx="274320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154680" y="1005840"/>
            <a:ext cx="2743200" cy="64008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11" name="Text 9"/>
          <p:cNvSpPr/>
          <p:nvPr/>
        </p:nvSpPr>
        <p:spPr>
          <a:xfrm>
            <a:off x="3154680" y="1078992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749040" y="1115568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 avancé (o3, R1)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46120" y="1572768"/>
            <a:ext cx="2560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modèles raisonnent en chaîne de pensée interne. Résolution de problèmes complexes.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80760" y="1005840"/>
            <a:ext cx="274320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80760" y="1005840"/>
            <a:ext cx="2743200" cy="64008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16" name="Text 14"/>
          <p:cNvSpPr/>
          <p:nvPr/>
        </p:nvSpPr>
        <p:spPr>
          <a:xfrm>
            <a:off x="6080760" y="1078992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675120" y="1115568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sur device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172200" y="1572768"/>
            <a:ext cx="2560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Modèles efficaces fonctionnant sur smartphone ou laptop sans cloud. Privacy totale.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28600" y="2971800"/>
            <a:ext cx="274320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28600" y="2971800"/>
            <a:ext cx="2743200" cy="64008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21" name="Text 19"/>
          <p:cNvSpPr/>
          <p:nvPr/>
        </p:nvSpPr>
        <p:spPr>
          <a:xfrm>
            <a:off x="228600" y="3044952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822960" y="3081528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 IA natifs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20040" y="3538728"/>
            <a:ext cx="2560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Cursor, Windsurf : l'éditeur de code devient un co-pilote actif, pas un assistant passif.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154680" y="2971800"/>
            <a:ext cx="274320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154680" y="2971800"/>
            <a:ext cx="2743200" cy="64008"/>
          </a:xfrm>
          <a:prstGeom prst="rect">
            <a:avLst/>
          </a:prstGeom>
          <a:solidFill>
            <a:srgbClr val="FF8F00"/>
          </a:solidFill>
          <a:ln/>
        </p:spPr>
      </p:sp>
      <p:sp>
        <p:nvSpPr>
          <p:cNvPr id="26" name="Text 24"/>
          <p:cNvSpPr/>
          <p:nvPr/>
        </p:nvSpPr>
        <p:spPr>
          <a:xfrm>
            <a:off x="3154680" y="3044952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🔌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3749040" y="3081528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8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(Model Context Protocol)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246120" y="3538728"/>
            <a:ext cx="2560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Anthropic pour connecter les LLMs à n'importe quel outil ou service tiers.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080760" y="2971800"/>
            <a:ext cx="274320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080760" y="2971800"/>
            <a:ext cx="2743200" cy="64008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31" name="Text 29"/>
          <p:cNvSpPr/>
          <p:nvPr/>
        </p:nvSpPr>
        <p:spPr>
          <a:xfrm>
            <a:off x="6080760" y="3044952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6675120" y="3081528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dans DevOps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172200" y="3538728"/>
            <a:ext cx="2560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automatique, test generation, incident analysis, capacity planning autonome.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d'action personnel — 3 horizons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804672"/>
            <a:ext cx="8412480" cy="36576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4" name="Shape 2"/>
          <p:cNvSpPr/>
          <p:nvPr/>
        </p:nvSpPr>
        <p:spPr>
          <a:xfrm>
            <a:off x="228600" y="960120"/>
            <a:ext cx="2788920" cy="3931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960120"/>
            <a:ext cx="2788920" cy="685800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987552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 — Semaine 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20040" y="132588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2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Wins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0040" y="1719072"/>
            <a:ext cx="260604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Installer Claude.ai / Copilot dans VS Code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Écrire 3 prompts avec les 5 composantes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Générer les tests d'une fonction existante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Documenter une API avec l'IA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172968" y="960120"/>
            <a:ext cx="2788920" cy="3931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172968" y="960120"/>
            <a:ext cx="2788920" cy="68580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1" name="Text 9"/>
          <p:cNvSpPr/>
          <p:nvPr/>
        </p:nvSpPr>
        <p:spPr>
          <a:xfrm>
            <a:off x="3264408" y="987552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 — Mois 1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264408" y="132588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2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Intégration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264408" y="1719072"/>
            <a:ext cx="260604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Intégrer l'IA dans son workflow de debug quotidien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Utiliser Claude Code sur un projet réel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Refactoriser un module legacy avec l'IA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Configurer une GitHub Action de code review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117336" y="960120"/>
            <a:ext cx="2788920" cy="3931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17336" y="960120"/>
            <a:ext cx="2788920" cy="685800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16" name="Text 14"/>
          <p:cNvSpPr/>
          <p:nvPr/>
        </p:nvSpPr>
        <p:spPr>
          <a:xfrm>
            <a:off x="6208776" y="987552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H3 — Trimestre 1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208776" y="132588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2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Maîtrise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208776" y="1719072"/>
            <a:ext cx="260604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Déployer un pipeline CI/CD avec audit IA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Créer son premier agent autonome (LangChain)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Former son équipe aux bonnes pratiques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Mesurer et partager les gains de productivité</a:t>
            </a:r>
            <a:endParaRPr lang="en-US" sz="11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D2B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Bénéfices mesurés — Données 2024-2025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731520"/>
            <a:ext cx="8412480" cy="36576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914400"/>
            <a:ext cx="1920240" cy="1920240"/>
          </a:xfrm>
          <a:prstGeom prst="rect">
            <a:avLst/>
          </a:prstGeom>
          <a:solidFill>
            <a:srgbClr val="162040"/>
          </a:solidFill>
          <a:ln/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14400"/>
            <a:ext cx="1920240" cy="64008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024128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+55%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365760" y="1938528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Vitesse de coding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(GitHub Research)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514600" y="914400"/>
            <a:ext cx="1920240" cy="1920240"/>
          </a:xfrm>
          <a:prstGeom prst="rect">
            <a:avLst/>
          </a:prstGeom>
          <a:solidFill>
            <a:srgbClr val="162040"/>
          </a:solidFill>
          <a:ln/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514600" y="914400"/>
            <a:ext cx="1920240" cy="64008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10" name="Text 8"/>
          <p:cNvSpPr/>
          <p:nvPr/>
        </p:nvSpPr>
        <p:spPr>
          <a:xfrm>
            <a:off x="2514600" y="1024128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-40%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2514600" y="1938528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Temps de debug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avec protocole IA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63440" y="914400"/>
            <a:ext cx="1920240" cy="1920240"/>
          </a:xfrm>
          <a:prstGeom prst="rect">
            <a:avLst/>
          </a:prstGeom>
          <a:solidFill>
            <a:srgbClr val="162040"/>
          </a:solidFill>
          <a:ln/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63440" y="914400"/>
            <a:ext cx="1920240" cy="64008"/>
          </a:xfrm>
          <a:prstGeom prst="rect">
            <a:avLst/>
          </a:prstGeom>
          <a:solidFill>
            <a:srgbClr val="FF8F00"/>
          </a:solidFill>
          <a:ln/>
        </p:spPr>
      </p:sp>
      <p:sp>
        <p:nvSpPr>
          <p:cNvPr id="14" name="Text 12"/>
          <p:cNvSpPr/>
          <p:nvPr/>
        </p:nvSpPr>
        <p:spPr>
          <a:xfrm>
            <a:off x="4663440" y="1024128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8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+60%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4663440" y="1938528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générés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moins de temps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812280" y="914400"/>
            <a:ext cx="1920240" cy="1920240"/>
          </a:xfrm>
          <a:prstGeom prst="rect">
            <a:avLst/>
          </a:prstGeom>
          <a:solidFill>
            <a:srgbClr val="162040"/>
          </a:solidFill>
          <a:ln/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812280" y="914400"/>
            <a:ext cx="1920240" cy="64008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18" name="Text 16"/>
          <p:cNvSpPr/>
          <p:nvPr/>
        </p:nvSpPr>
        <p:spPr>
          <a:xfrm>
            <a:off x="6812280" y="1024128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</a:t>
            </a:r>
            <a:endParaRPr lang="en-US" sz="4400" dirty="0"/>
          </a:p>
        </p:txBody>
      </p:sp>
      <p:sp>
        <p:nvSpPr>
          <p:cNvPr id="19" name="Text 17"/>
          <p:cNvSpPr/>
          <p:nvPr/>
        </p:nvSpPr>
        <p:spPr>
          <a:xfrm>
            <a:off x="6812280" y="1938528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Temps doc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économisé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3063240"/>
            <a:ext cx="8412480" cy="1783080"/>
          </a:xfrm>
          <a:prstGeom prst="rect">
            <a:avLst/>
          </a:prstGeom>
          <a:solidFill>
            <a:srgbClr val="162040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3154680"/>
            <a:ext cx="8046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"Les développeurs utilisant GitHub Copilot terminent leurs tâches 55% plus vite.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i="1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gain est encore plus élevé pour les tâches répétitives et la génération de boilerplate."</a:t>
            </a:r>
            <a:endParaRPr lang="en-US" sz="1300" dirty="0"/>
          </a:p>
          <a:p>
            <a:pPr algn="ctr" indent="0" marL="0">
              <a:buNone/>
            </a:pPr>
            <a:endParaRPr lang="en-US" sz="1300" dirty="0"/>
          </a:p>
          <a:p>
            <a:pPr algn="ctr" indent="0" marL="0">
              <a:buNone/>
            </a:pPr>
            <a:r>
              <a:rPr lang="en-US" sz="1300" i="1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GitHub Research, 2024</a:t>
            </a:r>
            <a:endParaRPr lang="en-US" sz="13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vous savez maintenant faire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804672"/>
            <a:ext cx="8412480" cy="36576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4" name="Shape 2"/>
          <p:cNvSpPr/>
          <p:nvPr/>
        </p:nvSpPr>
        <p:spPr>
          <a:xfrm>
            <a:off x="228600" y="960120"/>
            <a:ext cx="201168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960120"/>
            <a:ext cx="2011680" cy="6400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1069848"/>
            <a:ext cx="457200" cy="457200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10698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68680" y="1106424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Expliquer le paysage IA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0040" y="164592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ML, DL, LLM, NLP, Agentic AI — définitions et relations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423160" y="960120"/>
            <a:ext cx="201168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23160" y="960120"/>
            <a:ext cx="2011680" cy="64008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12" name="Shape 10"/>
          <p:cNvSpPr/>
          <p:nvPr/>
        </p:nvSpPr>
        <p:spPr>
          <a:xfrm>
            <a:off x="2514600" y="1069848"/>
            <a:ext cx="457200" cy="457200"/>
          </a:xfrm>
          <a:prstGeom prst="ellipse">
            <a:avLst/>
          </a:prstGeom>
          <a:solidFill>
            <a:srgbClr val="6A1B9A"/>
          </a:solidFill>
          <a:ln/>
        </p:spPr>
      </p:sp>
      <p:sp>
        <p:nvSpPr>
          <p:cNvPr id="13" name="Text 11"/>
          <p:cNvSpPr/>
          <p:nvPr/>
        </p:nvSpPr>
        <p:spPr>
          <a:xfrm>
            <a:off x="2514600" y="10698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063240" y="1106424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Utiliser les outils IA au quotidien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514600" y="164592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Copilot, Cursor, Claude Code dans votre IDE et terminal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617720" y="960120"/>
            <a:ext cx="201168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17720" y="960120"/>
            <a:ext cx="2011680" cy="64008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18" name="Shape 16"/>
          <p:cNvSpPr/>
          <p:nvPr/>
        </p:nvSpPr>
        <p:spPr>
          <a:xfrm>
            <a:off x="4709160" y="1069848"/>
            <a:ext cx="457200" cy="457200"/>
          </a:xfrm>
          <a:prstGeom prst="ellipse">
            <a:avLst/>
          </a:prstGeom>
          <a:solidFill>
            <a:srgbClr val="00897B"/>
          </a:solidFill>
          <a:ln/>
        </p:spPr>
      </p:sp>
      <p:sp>
        <p:nvSpPr>
          <p:cNvPr id="19" name="Text 17"/>
          <p:cNvSpPr/>
          <p:nvPr/>
        </p:nvSpPr>
        <p:spPr>
          <a:xfrm>
            <a:off x="4709160" y="10698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257800" y="1106424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Rédiger des prompts efficaces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709160" y="164592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composantes : Rôle, Contexte, Tâche, Format, Contraintes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812280" y="960120"/>
            <a:ext cx="201168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812280" y="960120"/>
            <a:ext cx="2011680" cy="64008"/>
          </a:xfrm>
          <a:prstGeom prst="rect">
            <a:avLst/>
          </a:prstGeom>
          <a:solidFill>
            <a:srgbClr val="FF8F00"/>
          </a:solidFill>
          <a:ln/>
        </p:spPr>
      </p:sp>
      <p:sp>
        <p:nvSpPr>
          <p:cNvPr id="24" name="Shape 22"/>
          <p:cNvSpPr/>
          <p:nvPr/>
        </p:nvSpPr>
        <p:spPr>
          <a:xfrm>
            <a:off x="6903720" y="1069848"/>
            <a:ext cx="457200" cy="457200"/>
          </a:xfrm>
          <a:prstGeom prst="ellipse">
            <a:avLst/>
          </a:prstGeom>
          <a:solidFill>
            <a:srgbClr val="FF8F00"/>
          </a:solidFill>
          <a:ln/>
        </p:spPr>
      </p:sp>
      <p:sp>
        <p:nvSpPr>
          <p:cNvPr id="25" name="Text 23"/>
          <p:cNvSpPr/>
          <p:nvPr/>
        </p:nvSpPr>
        <p:spPr>
          <a:xfrm>
            <a:off x="6903720" y="10698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C4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452360" y="1106424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8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Automatiser les tests et la doc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903720" y="164592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unitaires, E2E, JSDoc, OpenAPI, README, Changelog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228600" y="2971800"/>
            <a:ext cx="27432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228600" y="2971800"/>
            <a:ext cx="2743200" cy="64008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30" name="Shape 28"/>
          <p:cNvSpPr/>
          <p:nvPr/>
        </p:nvSpPr>
        <p:spPr>
          <a:xfrm>
            <a:off x="320040" y="3081528"/>
            <a:ext cx="457200" cy="457200"/>
          </a:xfrm>
          <a:prstGeom prst="ellipse">
            <a:avLst/>
          </a:prstGeom>
          <a:solidFill>
            <a:srgbClr val="C62828"/>
          </a:solidFill>
          <a:ln/>
        </p:spPr>
      </p:sp>
      <p:sp>
        <p:nvSpPr>
          <p:cNvPr id="31" name="Text 29"/>
          <p:cNvSpPr/>
          <p:nvPr/>
        </p:nvSpPr>
        <p:spPr>
          <a:xfrm>
            <a:off x="320040" y="30815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C5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868680" y="3118104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Débugger et refactoriser avec l'IA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20040" y="365760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Protocole debug 5 étapes, types de refactoring, code legacy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3154680" y="2971800"/>
            <a:ext cx="27432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3154680" y="2971800"/>
            <a:ext cx="2743200" cy="64008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36" name="Shape 34"/>
          <p:cNvSpPr/>
          <p:nvPr/>
        </p:nvSpPr>
        <p:spPr>
          <a:xfrm>
            <a:off x="3246120" y="3081528"/>
            <a:ext cx="457200" cy="457200"/>
          </a:xfrm>
          <a:prstGeom prst="ellipse">
            <a:avLst/>
          </a:prstGeom>
          <a:solidFill>
            <a:srgbClr val="00BCD4"/>
          </a:solidFill>
          <a:ln/>
        </p:spPr>
      </p:sp>
      <p:sp>
        <p:nvSpPr>
          <p:cNvPr id="37" name="Text 35"/>
          <p:cNvSpPr/>
          <p:nvPr/>
        </p:nvSpPr>
        <p:spPr>
          <a:xfrm>
            <a:off x="3246120" y="30815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C6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3794760" y="3118104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Intégrer l'IA en CI/CD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3246120" y="365760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Actions, review PR, audit sécurité, release notes auto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6080760" y="2971800"/>
            <a:ext cx="27432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080760" y="2971800"/>
            <a:ext cx="2743200" cy="64008"/>
          </a:xfrm>
          <a:prstGeom prst="rect">
            <a:avLst/>
          </a:prstGeom>
          <a:solidFill>
            <a:srgbClr val="0D2B5E"/>
          </a:solidFill>
          <a:ln/>
        </p:spPr>
      </p:sp>
      <p:sp>
        <p:nvSpPr>
          <p:cNvPr id="42" name="Shape 40"/>
          <p:cNvSpPr/>
          <p:nvPr/>
        </p:nvSpPr>
        <p:spPr>
          <a:xfrm>
            <a:off x="6172200" y="3081528"/>
            <a:ext cx="457200" cy="457200"/>
          </a:xfrm>
          <a:prstGeom prst="ellipse">
            <a:avLst/>
          </a:prstGeom>
          <a:solidFill>
            <a:srgbClr val="0D2B5E"/>
          </a:solidFill>
          <a:ln/>
        </p:spPr>
      </p:sp>
      <p:sp>
        <p:nvSpPr>
          <p:cNvPr id="43" name="Text 41"/>
          <p:cNvSpPr/>
          <p:nvPr/>
        </p:nvSpPr>
        <p:spPr>
          <a:xfrm>
            <a:off x="6172200" y="30815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C7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720840" y="3118104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Appliquer les règles de sécurité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6172200" y="365760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Secrets, RGPD, PI, Verify Don't Trust Blindly</a:t>
            </a:r>
            <a:endParaRPr lang="en-US" sz="10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Ressources pour aller plus loin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804672"/>
            <a:ext cx="8412480" cy="36576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4" name="Shape 2"/>
          <p:cNvSpPr/>
          <p:nvPr/>
        </p:nvSpPr>
        <p:spPr>
          <a:xfrm>
            <a:off x="228600" y="960120"/>
            <a:ext cx="4160520" cy="1965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960120"/>
            <a:ext cx="4160520" cy="41148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014984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Documentation officielle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20040" y="1463040"/>
            <a:ext cx="393192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docs.anthropic.com — Claude, Claude Code, MCP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platform.openai.com/docs — GPT-4o, API, Cookbook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cursor.sh/docs — Cursor IDE, Composer, Rules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17720" y="960120"/>
            <a:ext cx="4160520" cy="1965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17720" y="960120"/>
            <a:ext cx="4160520" cy="411480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10" name="Text 8"/>
          <p:cNvSpPr/>
          <p:nvPr/>
        </p:nvSpPr>
        <p:spPr>
          <a:xfrm>
            <a:off x="4709160" y="1014984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 Formations &amp; Tutoriels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709160" y="1463040"/>
            <a:ext cx="393192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deeplearning.ai — Cours LLM &amp; Agents (gratuit)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Academy — Agents &amp; RAG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fast.ai — Deep Learning pratique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28600" y="3108960"/>
            <a:ext cx="4160520" cy="1965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28600" y="3108960"/>
            <a:ext cx="4160520" cy="411480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14" name="Text 12"/>
          <p:cNvSpPr/>
          <p:nvPr/>
        </p:nvSpPr>
        <p:spPr>
          <a:xfrm>
            <a:off x="320040" y="3163824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🛠 Frameworks &amp; Outils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20040" y="3611880"/>
            <a:ext cx="393192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github.com/langchain-ai/langchain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github.com/joaomdmoura/crewAI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github.com/microsoft/autogen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17720" y="3108960"/>
            <a:ext cx="4160520" cy="1965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17720" y="3108960"/>
            <a:ext cx="4160520" cy="411480"/>
          </a:xfrm>
          <a:prstGeom prst="rect">
            <a:avLst/>
          </a:prstGeom>
          <a:solidFill>
            <a:srgbClr val="FF8F00"/>
          </a:solidFill>
          <a:ln/>
        </p:spPr>
      </p:sp>
      <p:sp>
        <p:nvSpPr>
          <p:cNvPr id="18" name="Text 16"/>
          <p:cNvSpPr/>
          <p:nvPr/>
        </p:nvSpPr>
        <p:spPr>
          <a:xfrm>
            <a:off x="4709160" y="3163824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📰 Veille &amp; Communauté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709160" y="3611880"/>
            <a:ext cx="393192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Batch (deeplearning.ai newsletter)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 Face Blog &amp; Papers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r/MachineLearning, r/LocalLLaMA</a:t>
            </a:r>
            <a:endParaRPr lang="en-US" sz="11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29200"/>
            <a:ext cx="9144000" cy="109728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54864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Merci !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L'IA est un multiplicateur de force.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i="1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Votre expertise reste irremplaçable.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286000" y="2834640"/>
            <a:ext cx="4572000" cy="54864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30175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Échanges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3794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 IT Modernes • Catalogue IA &amp; Agentic AI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4206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1.0 — 2025 • Code: IT-IA-AGENTIC-003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35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Intelligence Artificielle &amp; Agentic AI</dc:title>
  <dc:subject>PptxGenJS Presentation</dc:subject>
  <dc:creator>PptxGenJS</dc:creator>
  <cp:lastModifiedBy>PptxGenJS</cp:lastModifiedBy>
  <cp:revision>1</cp:revision>
  <dcterms:created xsi:type="dcterms:W3CDTF">2026-04-20T22:28:12Z</dcterms:created>
  <dcterms:modified xsi:type="dcterms:W3CDTF">2026-04-20T22:28:12Z</dcterms:modified>
</cp:coreProperties>
</file>